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_rels/presentation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3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59200"/>
            <a:ext cx="10972080" cy="108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>
          <a:xfrm>
            <a:off x="609480" y="1520280"/>
            <a:ext cx="10972080" cy="3768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609480" y="259200"/>
            <a:ext cx="10972080" cy="108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/>
          </p:nvPr>
        </p:nvSpPr>
        <p:spPr>
          <a:xfrm>
            <a:off x="609480" y="1520280"/>
            <a:ext cx="10972080" cy="3768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609480" y="259200"/>
            <a:ext cx="10972080" cy="108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/>
          </p:nvPr>
        </p:nvSpPr>
        <p:spPr>
          <a:xfrm>
            <a:off x="609480" y="1520280"/>
            <a:ext cx="5354280" cy="3768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/>
          </p:nvPr>
        </p:nvSpPr>
        <p:spPr>
          <a:xfrm>
            <a:off x="6231960" y="1520280"/>
            <a:ext cx="5354280" cy="3768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609480" y="259200"/>
            <a:ext cx="10972080" cy="108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subTitle"/>
          </p:nvPr>
        </p:nvSpPr>
        <p:spPr>
          <a:xfrm>
            <a:off x="609480" y="259200"/>
            <a:ext cx="10972080" cy="5029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09480" y="259200"/>
            <a:ext cx="10972080" cy="108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/>
          </p:nvPr>
        </p:nvSpPr>
        <p:spPr>
          <a:xfrm>
            <a:off x="609480" y="1520280"/>
            <a:ext cx="5354280" cy="1797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/>
          </p:nvPr>
        </p:nvSpPr>
        <p:spPr>
          <a:xfrm>
            <a:off x="6231960" y="1520280"/>
            <a:ext cx="5354280" cy="3768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/>
          </p:nvPr>
        </p:nvSpPr>
        <p:spPr>
          <a:xfrm>
            <a:off x="609480" y="3488760"/>
            <a:ext cx="5354280" cy="1797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609480" y="259200"/>
            <a:ext cx="10972080" cy="108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/>
          </p:nvPr>
        </p:nvSpPr>
        <p:spPr>
          <a:xfrm>
            <a:off x="609480" y="1520280"/>
            <a:ext cx="5354280" cy="3768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/>
          </p:nvPr>
        </p:nvSpPr>
        <p:spPr>
          <a:xfrm>
            <a:off x="6231960" y="1520280"/>
            <a:ext cx="5354280" cy="1797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/>
          </p:nvPr>
        </p:nvSpPr>
        <p:spPr>
          <a:xfrm>
            <a:off x="6231960" y="3488760"/>
            <a:ext cx="5354280" cy="1797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609480" y="259200"/>
            <a:ext cx="10972080" cy="108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609480" y="1520280"/>
            <a:ext cx="5354280" cy="1797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6231960" y="1520280"/>
            <a:ext cx="5354280" cy="1797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609480" y="3488760"/>
            <a:ext cx="10972080" cy="1797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609480" y="259200"/>
            <a:ext cx="10972080" cy="108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609480" y="1520280"/>
            <a:ext cx="10972080" cy="1797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609480" y="3488760"/>
            <a:ext cx="10972080" cy="1797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609480" y="259200"/>
            <a:ext cx="10972080" cy="108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609480" y="1520280"/>
            <a:ext cx="5354280" cy="1797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6231960" y="1520280"/>
            <a:ext cx="5354280" cy="1797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/>
          </p:nvPr>
        </p:nvSpPr>
        <p:spPr>
          <a:xfrm>
            <a:off x="609480" y="3488760"/>
            <a:ext cx="5354280" cy="1797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/>
          </p:nvPr>
        </p:nvSpPr>
        <p:spPr>
          <a:xfrm>
            <a:off x="6231960" y="3488760"/>
            <a:ext cx="5354280" cy="1797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609480" y="259200"/>
            <a:ext cx="10972080" cy="108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609480" y="1520280"/>
            <a:ext cx="3532680" cy="1797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319280" y="1520280"/>
            <a:ext cx="3532680" cy="1797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/>
          </p:nvPr>
        </p:nvSpPr>
        <p:spPr>
          <a:xfrm>
            <a:off x="8028720" y="1520280"/>
            <a:ext cx="3532680" cy="1797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/>
          </p:nvPr>
        </p:nvSpPr>
        <p:spPr>
          <a:xfrm>
            <a:off x="609480" y="3488760"/>
            <a:ext cx="3532680" cy="1797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" name="PlaceHolder 6"/>
          <p:cNvSpPr>
            <a:spLocks noGrp="1"/>
          </p:cNvSpPr>
          <p:nvPr>
            <p:ph/>
          </p:nvPr>
        </p:nvSpPr>
        <p:spPr>
          <a:xfrm>
            <a:off x="4319280" y="3488760"/>
            <a:ext cx="3532680" cy="1797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" name="PlaceHolder 7"/>
          <p:cNvSpPr>
            <a:spLocks noGrp="1"/>
          </p:cNvSpPr>
          <p:nvPr>
            <p:ph/>
          </p:nvPr>
        </p:nvSpPr>
        <p:spPr>
          <a:xfrm>
            <a:off x="8028720" y="3488760"/>
            <a:ext cx="3532680" cy="1797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09480" y="259200"/>
            <a:ext cx="10972080" cy="108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609480" y="1520280"/>
            <a:ext cx="10972080" cy="3768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9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0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1" name=""/>
          <p:cNvSpPr txBox="1"/>
          <p:nvPr/>
        </p:nvSpPr>
        <p:spPr>
          <a:xfrm>
            <a:off x="380880" y="3107520"/>
            <a:ext cx="10231200" cy="518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3000" spc="-1" strike="noStrike">
                <a:solidFill>
                  <a:srgbClr val="0288d1"/>
                </a:solidFill>
                <a:latin typeface="NotoSans-Semi"/>
                <a:ea typeface="NotoSans-Semi"/>
              </a:rPr>
              <a:t>Complementary Lenses: Unifying Learning Paradigms</a:t>
            </a:r>
            <a:endParaRPr b="0" lang="en-US" sz="3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2" name=""/>
          <p:cNvSpPr txBox="1"/>
          <p:nvPr/>
        </p:nvSpPr>
        <p:spPr>
          <a:xfrm>
            <a:off x="11775600" y="6327720"/>
            <a:ext cx="228240" cy="311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800" spc="-1" strike="noStrike">
                <a:solidFill>
                  <a:srgbClr val="777777"/>
                </a:solidFill>
                <a:latin typeface="NotoSans"/>
                <a:ea typeface="NotoSans"/>
              </a:rPr>
              <a:t>1</a:t>
            </a:r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5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6" name=""/>
          <p:cNvSpPr/>
          <p:nvPr/>
        </p:nvSpPr>
        <p:spPr>
          <a:xfrm>
            <a:off x="618840" y="2761920"/>
            <a:ext cx="86040" cy="86400"/>
          </a:xfrm>
          <a:custGeom>
            <a:avLst/>
            <a:gdLst/>
            <a:ahLst/>
            <a:rect l="0" t="0" r="r" b="b"/>
            <a:pathLst>
              <a:path w="239" h="240">
                <a:moveTo>
                  <a:pt x="239" y="120"/>
                </a:moveTo>
                <a:cubicBezTo>
                  <a:pt x="239" y="136"/>
                  <a:pt x="236" y="151"/>
                  <a:pt x="230" y="166"/>
                </a:cubicBezTo>
                <a:cubicBezTo>
                  <a:pt x="224" y="181"/>
                  <a:pt x="216" y="194"/>
                  <a:pt x="205" y="205"/>
                </a:cubicBezTo>
                <a:cubicBezTo>
                  <a:pt x="193" y="216"/>
                  <a:pt x="181" y="224"/>
                  <a:pt x="166" y="230"/>
                </a:cubicBezTo>
                <a:cubicBezTo>
                  <a:pt x="151" y="237"/>
                  <a:pt x="136" y="240"/>
                  <a:pt x="120" y="240"/>
                </a:cubicBezTo>
                <a:cubicBezTo>
                  <a:pt x="105" y="240"/>
                  <a:pt x="89" y="237"/>
                  <a:pt x="75" y="230"/>
                </a:cubicBezTo>
                <a:cubicBezTo>
                  <a:pt x="59" y="224"/>
                  <a:pt x="46" y="216"/>
                  <a:pt x="35" y="205"/>
                </a:cubicBezTo>
                <a:cubicBezTo>
                  <a:pt x="24" y="194"/>
                  <a:pt x="15" y="181"/>
                  <a:pt x="9" y="166"/>
                </a:cubicBezTo>
                <a:cubicBezTo>
                  <a:pt x="3" y="151"/>
                  <a:pt x="0" y="136"/>
                  <a:pt x="0" y="120"/>
                </a:cubicBezTo>
                <a:cubicBezTo>
                  <a:pt x="0" y="105"/>
                  <a:pt x="3" y="90"/>
                  <a:pt x="9" y="75"/>
                </a:cubicBezTo>
                <a:cubicBezTo>
                  <a:pt x="15" y="59"/>
                  <a:pt x="24" y="46"/>
                  <a:pt x="35" y="35"/>
                </a:cubicBezTo>
                <a:cubicBezTo>
                  <a:pt x="46" y="24"/>
                  <a:pt x="59" y="16"/>
                  <a:pt x="75" y="9"/>
                </a:cubicBezTo>
                <a:cubicBezTo>
                  <a:pt x="89" y="3"/>
                  <a:pt x="105" y="0"/>
                  <a:pt x="120" y="0"/>
                </a:cubicBezTo>
                <a:cubicBezTo>
                  <a:pt x="136" y="0"/>
                  <a:pt x="151" y="3"/>
                  <a:pt x="166" y="9"/>
                </a:cubicBezTo>
                <a:cubicBezTo>
                  <a:pt x="181" y="16"/>
                  <a:pt x="193" y="24"/>
                  <a:pt x="205" y="35"/>
                </a:cubicBezTo>
                <a:cubicBezTo>
                  <a:pt x="216" y="46"/>
                  <a:pt x="224" y="59"/>
                  <a:pt x="230" y="75"/>
                </a:cubicBezTo>
                <a:cubicBezTo>
                  <a:pt x="236" y="90"/>
                  <a:pt x="239" y="105"/>
                  <a:pt x="239" y="120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7" name=""/>
          <p:cNvSpPr txBox="1"/>
          <p:nvPr/>
        </p:nvSpPr>
        <p:spPr>
          <a:xfrm>
            <a:off x="380880" y="1939320"/>
            <a:ext cx="6465600" cy="45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2620" spc="-1" strike="noStrike">
                <a:solidFill>
                  <a:srgbClr val="333333"/>
                </a:solidFill>
                <a:latin typeface="NotoSans-Semi"/>
                <a:ea typeface="NotoSans-Semi"/>
              </a:rPr>
              <a:t>Dispelling the Mutually Exclusive Myth</a:t>
            </a:r>
            <a:endParaRPr b="0" lang="en-US" sz="262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" name=""/>
          <p:cNvSpPr txBox="1"/>
          <p:nvPr/>
        </p:nvSpPr>
        <p:spPr>
          <a:xfrm>
            <a:off x="857160" y="2640960"/>
            <a:ext cx="10918800" cy="325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870" spc="-1" strike="noStrike">
                <a:solidFill>
                  <a:srgbClr val="1f2328"/>
                </a:solidFill>
                <a:latin typeface="NotoSans"/>
                <a:ea typeface="NotoSans"/>
              </a:rPr>
              <a:t>Educators often mistakenly view learning theories as a historical progression where new concepts</a:t>
            </a:r>
            <a:endParaRPr b="0" lang="en-US" sz="18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9" name=""/>
          <p:cNvSpPr/>
          <p:nvPr/>
        </p:nvSpPr>
        <p:spPr>
          <a:xfrm>
            <a:off x="618840" y="3543120"/>
            <a:ext cx="86040" cy="86040"/>
          </a:xfrm>
          <a:custGeom>
            <a:avLst/>
            <a:gdLst/>
            <a:ahLst/>
            <a:rect l="0" t="0" r="r" b="b"/>
            <a:pathLst>
              <a:path w="239" h="239">
                <a:moveTo>
                  <a:pt x="239" y="120"/>
                </a:moveTo>
                <a:cubicBezTo>
                  <a:pt x="239" y="136"/>
                  <a:pt x="236" y="151"/>
                  <a:pt x="230" y="166"/>
                </a:cubicBezTo>
                <a:cubicBezTo>
                  <a:pt x="224" y="180"/>
                  <a:pt x="216" y="193"/>
                  <a:pt x="205" y="204"/>
                </a:cubicBezTo>
                <a:cubicBezTo>
                  <a:pt x="193" y="215"/>
                  <a:pt x="181" y="224"/>
                  <a:pt x="166" y="230"/>
                </a:cubicBezTo>
                <a:cubicBezTo>
                  <a:pt x="151" y="236"/>
                  <a:pt x="136" y="239"/>
                  <a:pt x="120" y="239"/>
                </a:cubicBezTo>
                <a:cubicBezTo>
                  <a:pt x="105" y="239"/>
                  <a:pt x="89" y="236"/>
                  <a:pt x="75" y="230"/>
                </a:cubicBezTo>
                <a:cubicBezTo>
                  <a:pt x="59" y="224"/>
                  <a:pt x="46" y="215"/>
                  <a:pt x="35" y="204"/>
                </a:cubicBezTo>
                <a:cubicBezTo>
                  <a:pt x="24" y="193"/>
                  <a:pt x="15" y="180"/>
                  <a:pt x="9" y="166"/>
                </a:cubicBezTo>
                <a:cubicBezTo>
                  <a:pt x="3" y="151"/>
                  <a:pt x="0" y="136"/>
                  <a:pt x="0" y="120"/>
                </a:cubicBezTo>
                <a:cubicBezTo>
                  <a:pt x="0" y="104"/>
                  <a:pt x="3" y="89"/>
                  <a:pt x="9" y="74"/>
                </a:cubicBezTo>
                <a:cubicBezTo>
                  <a:pt x="15" y="60"/>
                  <a:pt x="24" y="47"/>
                  <a:pt x="35" y="36"/>
                </a:cubicBezTo>
                <a:cubicBezTo>
                  <a:pt x="46" y="24"/>
                  <a:pt x="59" y="15"/>
                  <a:pt x="75" y="9"/>
                </a:cubicBezTo>
                <a:cubicBezTo>
                  <a:pt x="89" y="3"/>
                  <a:pt x="105" y="0"/>
                  <a:pt x="120" y="0"/>
                </a:cubicBezTo>
                <a:cubicBezTo>
                  <a:pt x="136" y="0"/>
                  <a:pt x="151" y="3"/>
                  <a:pt x="166" y="9"/>
                </a:cubicBezTo>
                <a:cubicBezTo>
                  <a:pt x="181" y="15"/>
                  <a:pt x="193" y="24"/>
                  <a:pt x="205" y="36"/>
                </a:cubicBezTo>
                <a:cubicBezTo>
                  <a:pt x="216" y="47"/>
                  <a:pt x="224" y="60"/>
                  <a:pt x="230" y="74"/>
                </a:cubicBezTo>
                <a:cubicBezTo>
                  <a:pt x="236" y="89"/>
                  <a:pt x="239" y="104"/>
                  <a:pt x="239" y="120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0" name=""/>
          <p:cNvSpPr txBox="1"/>
          <p:nvPr/>
        </p:nvSpPr>
        <p:spPr>
          <a:xfrm>
            <a:off x="857160" y="3003120"/>
            <a:ext cx="3417480" cy="325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870" spc="-1" strike="noStrike">
                <a:solidFill>
                  <a:srgbClr val="1f2328"/>
                </a:solidFill>
                <a:latin typeface="NotoSans"/>
                <a:ea typeface="NotoSans"/>
              </a:rPr>
              <a:t>completely replace older ones.</a:t>
            </a:r>
            <a:endParaRPr b="0" lang="en-US" sz="18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1" name=""/>
          <p:cNvSpPr txBox="1"/>
          <p:nvPr/>
        </p:nvSpPr>
        <p:spPr>
          <a:xfrm>
            <a:off x="857160" y="3422160"/>
            <a:ext cx="10194840" cy="325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870" spc="-1" strike="noStrike">
                <a:solidFill>
                  <a:srgbClr val="1f2328"/>
                </a:solidFill>
                <a:latin typeface="NotoSans"/>
                <a:ea typeface="NotoSans"/>
              </a:rPr>
              <a:t>This sequential thinking assumes that modern cognitive models invalidate the foundational</a:t>
            </a:r>
            <a:endParaRPr b="0" lang="en-US" sz="18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2" name=""/>
          <p:cNvSpPr/>
          <p:nvPr/>
        </p:nvSpPr>
        <p:spPr>
          <a:xfrm>
            <a:off x="618840" y="4314600"/>
            <a:ext cx="86040" cy="86040"/>
          </a:xfrm>
          <a:custGeom>
            <a:avLst/>
            <a:gdLst/>
            <a:ahLst/>
            <a:rect l="0" t="0" r="r" b="b"/>
            <a:pathLst>
              <a:path w="239" h="239">
                <a:moveTo>
                  <a:pt x="239" y="120"/>
                </a:moveTo>
                <a:cubicBezTo>
                  <a:pt x="239" y="136"/>
                  <a:pt x="236" y="151"/>
                  <a:pt x="230" y="166"/>
                </a:cubicBezTo>
                <a:cubicBezTo>
                  <a:pt x="224" y="180"/>
                  <a:pt x="216" y="193"/>
                  <a:pt x="205" y="204"/>
                </a:cubicBezTo>
                <a:cubicBezTo>
                  <a:pt x="193" y="216"/>
                  <a:pt x="181" y="224"/>
                  <a:pt x="166" y="230"/>
                </a:cubicBezTo>
                <a:cubicBezTo>
                  <a:pt x="151" y="236"/>
                  <a:pt x="136" y="239"/>
                  <a:pt x="120" y="239"/>
                </a:cubicBezTo>
                <a:cubicBezTo>
                  <a:pt x="105" y="239"/>
                  <a:pt x="89" y="236"/>
                  <a:pt x="75" y="230"/>
                </a:cubicBezTo>
                <a:cubicBezTo>
                  <a:pt x="59" y="224"/>
                  <a:pt x="46" y="216"/>
                  <a:pt x="35" y="204"/>
                </a:cubicBezTo>
                <a:cubicBezTo>
                  <a:pt x="24" y="193"/>
                  <a:pt x="15" y="180"/>
                  <a:pt x="9" y="166"/>
                </a:cubicBezTo>
                <a:cubicBezTo>
                  <a:pt x="3" y="151"/>
                  <a:pt x="0" y="136"/>
                  <a:pt x="0" y="120"/>
                </a:cubicBezTo>
                <a:cubicBezTo>
                  <a:pt x="0" y="104"/>
                  <a:pt x="3" y="89"/>
                  <a:pt x="9" y="75"/>
                </a:cubicBezTo>
                <a:cubicBezTo>
                  <a:pt x="15" y="60"/>
                  <a:pt x="24" y="47"/>
                  <a:pt x="35" y="36"/>
                </a:cubicBezTo>
                <a:cubicBezTo>
                  <a:pt x="46" y="24"/>
                  <a:pt x="59" y="15"/>
                  <a:pt x="75" y="9"/>
                </a:cubicBezTo>
                <a:cubicBezTo>
                  <a:pt x="89" y="3"/>
                  <a:pt x="105" y="0"/>
                  <a:pt x="120" y="0"/>
                </a:cubicBezTo>
                <a:cubicBezTo>
                  <a:pt x="136" y="0"/>
                  <a:pt x="151" y="3"/>
                  <a:pt x="166" y="9"/>
                </a:cubicBezTo>
                <a:cubicBezTo>
                  <a:pt x="181" y="15"/>
                  <a:pt x="193" y="24"/>
                  <a:pt x="205" y="36"/>
                </a:cubicBezTo>
                <a:cubicBezTo>
                  <a:pt x="216" y="47"/>
                  <a:pt x="224" y="60"/>
                  <a:pt x="230" y="75"/>
                </a:cubicBezTo>
                <a:cubicBezTo>
                  <a:pt x="236" y="89"/>
                  <a:pt x="239" y="104"/>
                  <a:pt x="239" y="120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3" name=""/>
          <p:cNvSpPr txBox="1"/>
          <p:nvPr/>
        </p:nvSpPr>
        <p:spPr>
          <a:xfrm>
            <a:off x="857160" y="3774600"/>
            <a:ext cx="3995280" cy="325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870" spc="-1" strike="noStrike">
                <a:solidFill>
                  <a:srgbClr val="1f2328"/>
                </a:solidFill>
                <a:latin typeface="NotoSans"/>
                <a:ea typeface="NotoSans"/>
              </a:rPr>
              <a:t>observations of earlier behaviorists.</a:t>
            </a:r>
            <a:endParaRPr b="0" lang="en-US" sz="18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4" name=""/>
          <p:cNvSpPr txBox="1"/>
          <p:nvPr/>
        </p:nvSpPr>
        <p:spPr>
          <a:xfrm>
            <a:off x="857160" y="4193640"/>
            <a:ext cx="9911160" cy="325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870" spc="-1" strike="noStrike">
                <a:solidFill>
                  <a:srgbClr val="1f2328"/>
                </a:solidFill>
                <a:latin typeface="NotoSans"/>
                <a:ea typeface="NotoSans"/>
              </a:rPr>
              <a:t>Instructional designers must abandon this linear mindset to eﬀectively utilize the distinct</a:t>
            </a:r>
            <a:endParaRPr b="0" lang="en-US" sz="18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 txBox="1"/>
          <p:nvPr/>
        </p:nvSpPr>
        <p:spPr>
          <a:xfrm>
            <a:off x="857160" y="4546080"/>
            <a:ext cx="3649320" cy="325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870" spc="-1" strike="noStrike">
                <a:solidFill>
                  <a:srgbClr val="1f2328"/>
                </a:solidFill>
                <a:latin typeface="NotoSans"/>
                <a:ea typeface="NotoSans"/>
              </a:rPr>
              <a:t>strengths of every methodology.</a:t>
            </a:r>
            <a:endParaRPr b="0" lang="en-US" sz="18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 txBox="1"/>
          <p:nvPr/>
        </p:nvSpPr>
        <p:spPr>
          <a:xfrm>
            <a:off x="11775600" y="6327720"/>
            <a:ext cx="228240" cy="311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800" spc="-1" strike="noStrike">
                <a:solidFill>
                  <a:srgbClr val="777777"/>
                </a:solidFill>
                <a:latin typeface="NotoSans"/>
                <a:ea typeface="NotoSans"/>
              </a:rPr>
              <a:t>2</a:t>
            </a:r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8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9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0" name=""/>
          <p:cNvSpPr/>
          <p:nvPr/>
        </p:nvSpPr>
        <p:spPr>
          <a:xfrm>
            <a:off x="618840" y="2761920"/>
            <a:ext cx="86040" cy="86400"/>
          </a:xfrm>
          <a:custGeom>
            <a:avLst/>
            <a:gdLst/>
            <a:ahLst/>
            <a:rect l="0" t="0" r="r" b="b"/>
            <a:pathLst>
              <a:path w="239" h="240">
                <a:moveTo>
                  <a:pt x="239" y="120"/>
                </a:moveTo>
                <a:cubicBezTo>
                  <a:pt x="239" y="136"/>
                  <a:pt x="236" y="151"/>
                  <a:pt x="230" y="166"/>
                </a:cubicBezTo>
                <a:cubicBezTo>
                  <a:pt x="224" y="181"/>
                  <a:pt x="216" y="194"/>
                  <a:pt x="205" y="205"/>
                </a:cubicBezTo>
                <a:cubicBezTo>
                  <a:pt x="193" y="216"/>
                  <a:pt x="181" y="224"/>
                  <a:pt x="166" y="230"/>
                </a:cubicBezTo>
                <a:cubicBezTo>
                  <a:pt x="151" y="237"/>
                  <a:pt x="136" y="240"/>
                  <a:pt x="120" y="240"/>
                </a:cubicBezTo>
                <a:cubicBezTo>
                  <a:pt x="105" y="240"/>
                  <a:pt x="89" y="237"/>
                  <a:pt x="75" y="230"/>
                </a:cubicBezTo>
                <a:cubicBezTo>
                  <a:pt x="59" y="224"/>
                  <a:pt x="46" y="216"/>
                  <a:pt x="35" y="205"/>
                </a:cubicBezTo>
                <a:cubicBezTo>
                  <a:pt x="24" y="194"/>
                  <a:pt x="15" y="181"/>
                  <a:pt x="9" y="166"/>
                </a:cubicBezTo>
                <a:cubicBezTo>
                  <a:pt x="3" y="151"/>
                  <a:pt x="0" y="136"/>
                  <a:pt x="0" y="120"/>
                </a:cubicBezTo>
                <a:cubicBezTo>
                  <a:pt x="0" y="105"/>
                  <a:pt x="3" y="90"/>
                  <a:pt x="9" y="75"/>
                </a:cubicBezTo>
                <a:cubicBezTo>
                  <a:pt x="15" y="59"/>
                  <a:pt x="24" y="46"/>
                  <a:pt x="35" y="35"/>
                </a:cubicBezTo>
                <a:cubicBezTo>
                  <a:pt x="46" y="24"/>
                  <a:pt x="59" y="16"/>
                  <a:pt x="75" y="9"/>
                </a:cubicBezTo>
                <a:cubicBezTo>
                  <a:pt x="89" y="3"/>
                  <a:pt x="105" y="0"/>
                  <a:pt x="120" y="0"/>
                </a:cubicBezTo>
                <a:cubicBezTo>
                  <a:pt x="136" y="0"/>
                  <a:pt x="151" y="3"/>
                  <a:pt x="166" y="9"/>
                </a:cubicBezTo>
                <a:cubicBezTo>
                  <a:pt x="181" y="16"/>
                  <a:pt x="193" y="24"/>
                  <a:pt x="205" y="35"/>
                </a:cubicBezTo>
                <a:cubicBezTo>
                  <a:pt x="216" y="46"/>
                  <a:pt x="224" y="59"/>
                  <a:pt x="230" y="75"/>
                </a:cubicBezTo>
                <a:cubicBezTo>
                  <a:pt x="236" y="90"/>
                  <a:pt x="239" y="105"/>
                  <a:pt x="239" y="120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1" name=""/>
          <p:cNvSpPr txBox="1"/>
          <p:nvPr/>
        </p:nvSpPr>
        <p:spPr>
          <a:xfrm>
            <a:off x="380880" y="1939320"/>
            <a:ext cx="6241680" cy="45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2620" spc="-1" strike="noStrike">
                <a:solidFill>
                  <a:srgbClr val="333333"/>
                </a:solidFill>
                <a:latin typeface="NotoSans-Semi"/>
                <a:ea typeface="NotoSans-Semi"/>
              </a:rPr>
              <a:t>The Complementary Lens Framework</a:t>
            </a:r>
            <a:endParaRPr b="0" lang="en-US" sz="262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2" name=""/>
          <p:cNvSpPr txBox="1"/>
          <p:nvPr/>
        </p:nvSpPr>
        <p:spPr>
          <a:xfrm>
            <a:off x="857160" y="2640960"/>
            <a:ext cx="10267920" cy="325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870" spc="-1" strike="noStrike">
                <a:solidFill>
                  <a:srgbClr val="1f2328"/>
                </a:solidFill>
                <a:latin typeface="NotoSans"/>
                <a:ea typeface="NotoSans"/>
              </a:rPr>
              <a:t>Treat each learning theory as a unique optical lens that magniﬁes speciﬁc dimensions of the</a:t>
            </a:r>
            <a:endParaRPr b="0" lang="en-US" sz="18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3" name=""/>
          <p:cNvSpPr/>
          <p:nvPr/>
        </p:nvSpPr>
        <p:spPr>
          <a:xfrm>
            <a:off x="618840" y="3543120"/>
            <a:ext cx="86040" cy="86040"/>
          </a:xfrm>
          <a:custGeom>
            <a:avLst/>
            <a:gdLst/>
            <a:ahLst/>
            <a:rect l="0" t="0" r="r" b="b"/>
            <a:pathLst>
              <a:path w="239" h="239">
                <a:moveTo>
                  <a:pt x="239" y="120"/>
                </a:moveTo>
                <a:cubicBezTo>
                  <a:pt x="239" y="136"/>
                  <a:pt x="236" y="151"/>
                  <a:pt x="230" y="166"/>
                </a:cubicBezTo>
                <a:cubicBezTo>
                  <a:pt x="224" y="180"/>
                  <a:pt x="216" y="193"/>
                  <a:pt x="205" y="204"/>
                </a:cubicBezTo>
                <a:cubicBezTo>
                  <a:pt x="193" y="215"/>
                  <a:pt x="181" y="224"/>
                  <a:pt x="166" y="230"/>
                </a:cubicBezTo>
                <a:cubicBezTo>
                  <a:pt x="151" y="236"/>
                  <a:pt x="136" y="239"/>
                  <a:pt x="120" y="239"/>
                </a:cubicBezTo>
                <a:cubicBezTo>
                  <a:pt x="105" y="239"/>
                  <a:pt x="89" y="236"/>
                  <a:pt x="75" y="230"/>
                </a:cubicBezTo>
                <a:cubicBezTo>
                  <a:pt x="59" y="224"/>
                  <a:pt x="46" y="215"/>
                  <a:pt x="35" y="204"/>
                </a:cubicBezTo>
                <a:cubicBezTo>
                  <a:pt x="24" y="193"/>
                  <a:pt x="15" y="180"/>
                  <a:pt x="9" y="166"/>
                </a:cubicBezTo>
                <a:cubicBezTo>
                  <a:pt x="3" y="151"/>
                  <a:pt x="0" y="136"/>
                  <a:pt x="0" y="120"/>
                </a:cubicBezTo>
                <a:cubicBezTo>
                  <a:pt x="0" y="104"/>
                  <a:pt x="3" y="89"/>
                  <a:pt x="9" y="74"/>
                </a:cubicBezTo>
                <a:cubicBezTo>
                  <a:pt x="15" y="60"/>
                  <a:pt x="24" y="47"/>
                  <a:pt x="35" y="36"/>
                </a:cubicBezTo>
                <a:cubicBezTo>
                  <a:pt x="46" y="24"/>
                  <a:pt x="59" y="15"/>
                  <a:pt x="75" y="9"/>
                </a:cubicBezTo>
                <a:cubicBezTo>
                  <a:pt x="89" y="3"/>
                  <a:pt x="105" y="0"/>
                  <a:pt x="120" y="0"/>
                </a:cubicBezTo>
                <a:cubicBezTo>
                  <a:pt x="136" y="0"/>
                  <a:pt x="151" y="3"/>
                  <a:pt x="166" y="9"/>
                </a:cubicBezTo>
                <a:cubicBezTo>
                  <a:pt x="181" y="15"/>
                  <a:pt x="193" y="24"/>
                  <a:pt x="205" y="36"/>
                </a:cubicBezTo>
                <a:cubicBezTo>
                  <a:pt x="216" y="47"/>
                  <a:pt x="224" y="60"/>
                  <a:pt x="230" y="74"/>
                </a:cubicBezTo>
                <a:cubicBezTo>
                  <a:pt x="236" y="89"/>
                  <a:pt x="239" y="104"/>
                  <a:pt x="239" y="120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4" name=""/>
          <p:cNvSpPr txBox="1"/>
          <p:nvPr/>
        </p:nvSpPr>
        <p:spPr>
          <a:xfrm>
            <a:off x="857160" y="3003120"/>
            <a:ext cx="3519720" cy="325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870" spc="-1" strike="noStrike">
                <a:solidFill>
                  <a:srgbClr val="1f2328"/>
                </a:solidFill>
                <a:latin typeface="NotoSans"/>
                <a:ea typeface="NotoSans"/>
              </a:rPr>
              <a:t>human educational experience.</a:t>
            </a:r>
            <a:endParaRPr b="0" lang="en-US" sz="18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5" name=""/>
          <p:cNvSpPr txBox="1"/>
          <p:nvPr/>
        </p:nvSpPr>
        <p:spPr>
          <a:xfrm>
            <a:off x="857160" y="3422160"/>
            <a:ext cx="10886760" cy="325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870" spc="-1" strike="noStrike">
                <a:solidFill>
                  <a:srgbClr val="1f2328"/>
                </a:solidFill>
                <a:latin typeface="NotoSans"/>
                <a:ea typeface="NotoSans"/>
              </a:rPr>
              <a:t>Just as microscopes and telescopes serve distinct observational purposes, each theory illuminates</a:t>
            </a:r>
            <a:endParaRPr b="0" lang="en-US" sz="18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6" name=""/>
          <p:cNvSpPr/>
          <p:nvPr/>
        </p:nvSpPr>
        <p:spPr>
          <a:xfrm>
            <a:off x="618840" y="4314600"/>
            <a:ext cx="86040" cy="86040"/>
          </a:xfrm>
          <a:custGeom>
            <a:avLst/>
            <a:gdLst/>
            <a:ahLst/>
            <a:rect l="0" t="0" r="r" b="b"/>
            <a:pathLst>
              <a:path w="239" h="239">
                <a:moveTo>
                  <a:pt x="239" y="120"/>
                </a:moveTo>
                <a:cubicBezTo>
                  <a:pt x="239" y="136"/>
                  <a:pt x="236" y="151"/>
                  <a:pt x="230" y="166"/>
                </a:cubicBezTo>
                <a:cubicBezTo>
                  <a:pt x="224" y="180"/>
                  <a:pt x="216" y="193"/>
                  <a:pt x="205" y="204"/>
                </a:cubicBezTo>
                <a:cubicBezTo>
                  <a:pt x="193" y="216"/>
                  <a:pt x="181" y="224"/>
                  <a:pt x="166" y="230"/>
                </a:cubicBezTo>
                <a:cubicBezTo>
                  <a:pt x="151" y="236"/>
                  <a:pt x="136" y="239"/>
                  <a:pt x="120" y="239"/>
                </a:cubicBezTo>
                <a:cubicBezTo>
                  <a:pt x="105" y="239"/>
                  <a:pt x="89" y="236"/>
                  <a:pt x="75" y="230"/>
                </a:cubicBezTo>
                <a:cubicBezTo>
                  <a:pt x="59" y="224"/>
                  <a:pt x="46" y="216"/>
                  <a:pt x="35" y="204"/>
                </a:cubicBezTo>
                <a:cubicBezTo>
                  <a:pt x="24" y="193"/>
                  <a:pt x="15" y="180"/>
                  <a:pt x="9" y="166"/>
                </a:cubicBezTo>
                <a:cubicBezTo>
                  <a:pt x="3" y="151"/>
                  <a:pt x="0" y="136"/>
                  <a:pt x="0" y="120"/>
                </a:cubicBezTo>
                <a:cubicBezTo>
                  <a:pt x="0" y="104"/>
                  <a:pt x="3" y="89"/>
                  <a:pt x="9" y="75"/>
                </a:cubicBezTo>
                <a:cubicBezTo>
                  <a:pt x="15" y="60"/>
                  <a:pt x="24" y="47"/>
                  <a:pt x="35" y="36"/>
                </a:cubicBezTo>
                <a:cubicBezTo>
                  <a:pt x="46" y="24"/>
                  <a:pt x="59" y="15"/>
                  <a:pt x="75" y="9"/>
                </a:cubicBezTo>
                <a:cubicBezTo>
                  <a:pt x="89" y="3"/>
                  <a:pt x="105" y="0"/>
                  <a:pt x="120" y="0"/>
                </a:cubicBezTo>
                <a:cubicBezTo>
                  <a:pt x="136" y="0"/>
                  <a:pt x="151" y="3"/>
                  <a:pt x="166" y="9"/>
                </a:cubicBezTo>
                <a:cubicBezTo>
                  <a:pt x="181" y="15"/>
                  <a:pt x="193" y="24"/>
                  <a:pt x="205" y="36"/>
                </a:cubicBezTo>
                <a:cubicBezTo>
                  <a:pt x="216" y="47"/>
                  <a:pt x="224" y="60"/>
                  <a:pt x="230" y="75"/>
                </a:cubicBezTo>
                <a:cubicBezTo>
                  <a:pt x="236" y="89"/>
                  <a:pt x="239" y="104"/>
                  <a:pt x="239" y="120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7" name=""/>
          <p:cNvSpPr txBox="1"/>
          <p:nvPr/>
        </p:nvSpPr>
        <p:spPr>
          <a:xfrm>
            <a:off x="857160" y="3774600"/>
            <a:ext cx="2923920" cy="325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870" spc="-1" strike="noStrike">
                <a:solidFill>
                  <a:srgbClr val="1f2328"/>
                </a:solidFill>
                <a:latin typeface="NotoSans"/>
                <a:ea typeface="NotoSans"/>
              </a:rPr>
              <a:t>a diﬀerent cognitive scale.</a:t>
            </a:r>
            <a:endParaRPr b="0" lang="en-US" sz="18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8" name=""/>
          <p:cNvSpPr txBox="1"/>
          <p:nvPr/>
        </p:nvSpPr>
        <p:spPr>
          <a:xfrm>
            <a:off x="857160" y="4193640"/>
            <a:ext cx="10528560" cy="325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870" spc="-1" strike="noStrike">
                <a:solidFill>
                  <a:srgbClr val="1f2328"/>
                </a:solidFill>
                <a:latin typeface="NotoSans"/>
                <a:ea typeface="NotoSans"/>
              </a:rPr>
              <a:t>Adopting multiple lenses allows designers to shift focus seamlessly from observable actions to</a:t>
            </a:r>
            <a:endParaRPr b="0" lang="en-US" sz="18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9" name=""/>
          <p:cNvSpPr txBox="1"/>
          <p:nvPr/>
        </p:nvSpPr>
        <p:spPr>
          <a:xfrm>
            <a:off x="857160" y="4546080"/>
            <a:ext cx="2973960" cy="325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870" spc="-1" strike="noStrike">
                <a:solidFill>
                  <a:srgbClr val="1f2328"/>
                </a:solidFill>
                <a:latin typeface="NotoSans"/>
                <a:ea typeface="NotoSans"/>
              </a:rPr>
              <a:t>internal mental structures.</a:t>
            </a:r>
            <a:endParaRPr b="0" lang="en-US" sz="18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0" name=""/>
          <p:cNvSpPr txBox="1"/>
          <p:nvPr/>
        </p:nvSpPr>
        <p:spPr>
          <a:xfrm>
            <a:off x="11775600" y="6327720"/>
            <a:ext cx="228240" cy="311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800" spc="-1" strike="noStrike">
                <a:solidFill>
                  <a:srgbClr val="777777"/>
                </a:solidFill>
                <a:latin typeface="NotoSans"/>
                <a:ea typeface="NotoSans"/>
              </a:rPr>
              <a:t>3</a:t>
            </a:r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2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3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4" name=""/>
          <p:cNvSpPr/>
          <p:nvPr/>
        </p:nvSpPr>
        <p:spPr>
          <a:xfrm>
            <a:off x="618840" y="2761920"/>
            <a:ext cx="86040" cy="86400"/>
          </a:xfrm>
          <a:custGeom>
            <a:avLst/>
            <a:gdLst/>
            <a:ahLst/>
            <a:rect l="0" t="0" r="r" b="b"/>
            <a:pathLst>
              <a:path w="239" h="240">
                <a:moveTo>
                  <a:pt x="239" y="120"/>
                </a:moveTo>
                <a:cubicBezTo>
                  <a:pt x="239" y="136"/>
                  <a:pt x="236" y="151"/>
                  <a:pt x="230" y="166"/>
                </a:cubicBezTo>
                <a:cubicBezTo>
                  <a:pt x="224" y="181"/>
                  <a:pt x="216" y="194"/>
                  <a:pt x="205" y="205"/>
                </a:cubicBezTo>
                <a:cubicBezTo>
                  <a:pt x="193" y="216"/>
                  <a:pt x="181" y="224"/>
                  <a:pt x="166" y="230"/>
                </a:cubicBezTo>
                <a:cubicBezTo>
                  <a:pt x="151" y="237"/>
                  <a:pt x="136" y="240"/>
                  <a:pt x="120" y="240"/>
                </a:cubicBezTo>
                <a:cubicBezTo>
                  <a:pt x="105" y="240"/>
                  <a:pt x="89" y="237"/>
                  <a:pt x="75" y="230"/>
                </a:cubicBezTo>
                <a:cubicBezTo>
                  <a:pt x="59" y="224"/>
                  <a:pt x="46" y="216"/>
                  <a:pt x="35" y="205"/>
                </a:cubicBezTo>
                <a:cubicBezTo>
                  <a:pt x="24" y="194"/>
                  <a:pt x="15" y="181"/>
                  <a:pt x="9" y="166"/>
                </a:cubicBezTo>
                <a:cubicBezTo>
                  <a:pt x="3" y="151"/>
                  <a:pt x="0" y="136"/>
                  <a:pt x="0" y="120"/>
                </a:cubicBezTo>
                <a:cubicBezTo>
                  <a:pt x="0" y="105"/>
                  <a:pt x="3" y="90"/>
                  <a:pt x="9" y="75"/>
                </a:cubicBezTo>
                <a:cubicBezTo>
                  <a:pt x="15" y="59"/>
                  <a:pt x="24" y="46"/>
                  <a:pt x="35" y="35"/>
                </a:cubicBezTo>
                <a:cubicBezTo>
                  <a:pt x="46" y="24"/>
                  <a:pt x="59" y="16"/>
                  <a:pt x="75" y="9"/>
                </a:cubicBezTo>
                <a:cubicBezTo>
                  <a:pt x="89" y="3"/>
                  <a:pt x="105" y="0"/>
                  <a:pt x="120" y="0"/>
                </a:cubicBezTo>
                <a:cubicBezTo>
                  <a:pt x="136" y="0"/>
                  <a:pt x="151" y="3"/>
                  <a:pt x="166" y="9"/>
                </a:cubicBezTo>
                <a:cubicBezTo>
                  <a:pt x="181" y="16"/>
                  <a:pt x="193" y="24"/>
                  <a:pt x="205" y="35"/>
                </a:cubicBezTo>
                <a:cubicBezTo>
                  <a:pt x="216" y="46"/>
                  <a:pt x="224" y="59"/>
                  <a:pt x="230" y="75"/>
                </a:cubicBezTo>
                <a:cubicBezTo>
                  <a:pt x="236" y="90"/>
                  <a:pt x="239" y="105"/>
                  <a:pt x="239" y="120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75" name=""/>
          <p:cNvSpPr txBox="1"/>
          <p:nvPr/>
        </p:nvSpPr>
        <p:spPr>
          <a:xfrm>
            <a:off x="380880" y="1939320"/>
            <a:ext cx="5959440" cy="45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2620" spc="-1" strike="noStrike">
                <a:solidFill>
                  <a:srgbClr val="333333"/>
                </a:solidFill>
                <a:latin typeface="NotoSans-Semi"/>
                <a:ea typeface="NotoSans-Semi"/>
              </a:rPr>
              <a:t>The Instructional Designer's Toolkit</a:t>
            </a:r>
            <a:endParaRPr b="0" lang="en-US" sz="262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6" name=""/>
          <p:cNvSpPr txBox="1"/>
          <p:nvPr/>
        </p:nvSpPr>
        <p:spPr>
          <a:xfrm>
            <a:off x="857160" y="2640960"/>
            <a:ext cx="10726560" cy="325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870" spc="-1" strike="noStrike">
                <a:solidFill>
                  <a:srgbClr val="1f2328"/>
                </a:solidFill>
                <a:latin typeface="NotoSans"/>
                <a:ea typeface="NotoSans"/>
              </a:rPr>
              <a:t>Masterful instructional design operates exactly like a specialized craft, requiring a diverse toolkit</a:t>
            </a:r>
            <a:endParaRPr b="0" lang="en-US" sz="18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7" name=""/>
          <p:cNvSpPr/>
          <p:nvPr/>
        </p:nvSpPr>
        <p:spPr>
          <a:xfrm>
            <a:off x="618840" y="3543120"/>
            <a:ext cx="86040" cy="86040"/>
          </a:xfrm>
          <a:custGeom>
            <a:avLst/>
            <a:gdLst/>
            <a:ahLst/>
            <a:rect l="0" t="0" r="r" b="b"/>
            <a:pathLst>
              <a:path w="239" h="239">
                <a:moveTo>
                  <a:pt x="239" y="120"/>
                </a:moveTo>
                <a:cubicBezTo>
                  <a:pt x="239" y="136"/>
                  <a:pt x="236" y="151"/>
                  <a:pt x="230" y="166"/>
                </a:cubicBezTo>
                <a:cubicBezTo>
                  <a:pt x="224" y="180"/>
                  <a:pt x="216" y="193"/>
                  <a:pt x="205" y="204"/>
                </a:cubicBezTo>
                <a:cubicBezTo>
                  <a:pt x="193" y="215"/>
                  <a:pt x="181" y="224"/>
                  <a:pt x="166" y="230"/>
                </a:cubicBezTo>
                <a:cubicBezTo>
                  <a:pt x="151" y="236"/>
                  <a:pt x="136" y="239"/>
                  <a:pt x="120" y="239"/>
                </a:cubicBezTo>
                <a:cubicBezTo>
                  <a:pt x="105" y="239"/>
                  <a:pt x="89" y="236"/>
                  <a:pt x="75" y="230"/>
                </a:cubicBezTo>
                <a:cubicBezTo>
                  <a:pt x="59" y="224"/>
                  <a:pt x="46" y="215"/>
                  <a:pt x="35" y="204"/>
                </a:cubicBezTo>
                <a:cubicBezTo>
                  <a:pt x="24" y="193"/>
                  <a:pt x="15" y="180"/>
                  <a:pt x="9" y="166"/>
                </a:cubicBezTo>
                <a:cubicBezTo>
                  <a:pt x="3" y="151"/>
                  <a:pt x="0" y="136"/>
                  <a:pt x="0" y="120"/>
                </a:cubicBezTo>
                <a:cubicBezTo>
                  <a:pt x="0" y="104"/>
                  <a:pt x="3" y="89"/>
                  <a:pt x="9" y="74"/>
                </a:cubicBezTo>
                <a:cubicBezTo>
                  <a:pt x="15" y="60"/>
                  <a:pt x="24" y="47"/>
                  <a:pt x="35" y="36"/>
                </a:cubicBezTo>
                <a:cubicBezTo>
                  <a:pt x="46" y="24"/>
                  <a:pt x="59" y="15"/>
                  <a:pt x="75" y="9"/>
                </a:cubicBezTo>
                <a:cubicBezTo>
                  <a:pt x="89" y="3"/>
                  <a:pt x="105" y="0"/>
                  <a:pt x="120" y="0"/>
                </a:cubicBezTo>
                <a:cubicBezTo>
                  <a:pt x="136" y="0"/>
                  <a:pt x="151" y="3"/>
                  <a:pt x="166" y="9"/>
                </a:cubicBezTo>
                <a:cubicBezTo>
                  <a:pt x="181" y="15"/>
                  <a:pt x="193" y="24"/>
                  <a:pt x="205" y="36"/>
                </a:cubicBezTo>
                <a:cubicBezTo>
                  <a:pt x="216" y="47"/>
                  <a:pt x="224" y="60"/>
                  <a:pt x="230" y="74"/>
                </a:cubicBezTo>
                <a:cubicBezTo>
                  <a:pt x="236" y="89"/>
                  <a:pt x="239" y="104"/>
                  <a:pt x="239" y="120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78" name=""/>
          <p:cNvSpPr txBox="1"/>
          <p:nvPr/>
        </p:nvSpPr>
        <p:spPr>
          <a:xfrm>
            <a:off x="857160" y="3003120"/>
            <a:ext cx="2397960" cy="325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870" spc="-1" strike="noStrike">
                <a:solidFill>
                  <a:srgbClr val="1f2328"/>
                </a:solidFill>
                <a:latin typeface="NotoSans"/>
                <a:ea typeface="NotoSans"/>
              </a:rPr>
              <a:t>for varied challenges.</a:t>
            </a:r>
            <a:endParaRPr b="0" lang="en-US" sz="18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9" name=""/>
          <p:cNvSpPr txBox="1"/>
          <p:nvPr/>
        </p:nvSpPr>
        <p:spPr>
          <a:xfrm>
            <a:off x="857160" y="3422160"/>
            <a:ext cx="10156680" cy="325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870" spc="-1" strike="noStrike">
                <a:solidFill>
                  <a:srgbClr val="1f2328"/>
                </a:solidFill>
                <a:latin typeface="NotoSans"/>
                <a:ea typeface="NotoSans"/>
              </a:rPr>
              <a:t>Precision requires identifying whether the task demands behavioral conditioning, cognitive</a:t>
            </a:r>
            <a:endParaRPr b="0" lang="en-US" sz="18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0" name=""/>
          <p:cNvSpPr/>
          <p:nvPr/>
        </p:nvSpPr>
        <p:spPr>
          <a:xfrm>
            <a:off x="618840" y="4314600"/>
            <a:ext cx="86040" cy="86040"/>
          </a:xfrm>
          <a:custGeom>
            <a:avLst/>
            <a:gdLst/>
            <a:ahLst/>
            <a:rect l="0" t="0" r="r" b="b"/>
            <a:pathLst>
              <a:path w="239" h="239">
                <a:moveTo>
                  <a:pt x="239" y="120"/>
                </a:moveTo>
                <a:cubicBezTo>
                  <a:pt x="239" y="136"/>
                  <a:pt x="236" y="151"/>
                  <a:pt x="230" y="166"/>
                </a:cubicBezTo>
                <a:cubicBezTo>
                  <a:pt x="224" y="180"/>
                  <a:pt x="216" y="193"/>
                  <a:pt x="205" y="204"/>
                </a:cubicBezTo>
                <a:cubicBezTo>
                  <a:pt x="193" y="216"/>
                  <a:pt x="181" y="224"/>
                  <a:pt x="166" y="230"/>
                </a:cubicBezTo>
                <a:cubicBezTo>
                  <a:pt x="151" y="236"/>
                  <a:pt x="136" y="239"/>
                  <a:pt x="120" y="239"/>
                </a:cubicBezTo>
                <a:cubicBezTo>
                  <a:pt x="105" y="239"/>
                  <a:pt x="89" y="236"/>
                  <a:pt x="75" y="230"/>
                </a:cubicBezTo>
                <a:cubicBezTo>
                  <a:pt x="59" y="224"/>
                  <a:pt x="46" y="216"/>
                  <a:pt x="35" y="204"/>
                </a:cubicBezTo>
                <a:cubicBezTo>
                  <a:pt x="24" y="193"/>
                  <a:pt x="15" y="180"/>
                  <a:pt x="9" y="166"/>
                </a:cubicBezTo>
                <a:cubicBezTo>
                  <a:pt x="3" y="151"/>
                  <a:pt x="0" y="136"/>
                  <a:pt x="0" y="120"/>
                </a:cubicBezTo>
                <a:cubicBezTo>
                  <a:pt x="0" y="104"/>
                  <a:pt x="3" y="89"/>
                  <a:pt x="9" y="75"/>
                </a:cubicBezTo>
                <a:cubicBezTo>
                  <a:pt x="15" y="60"/>
                  <a:pt x="24" y="47"/>
                  <a:pt x="35" y="36"/>
                </a:cubicBezTo>
                <a:cubicBezTo>
                  <a:pt x="46" y="24"/>
                  <a:pt x="59" y="15"/>
                  <a:pt x="75" y="9"/>
                </a:cubicBezTo>
                <a:cubicBezTo>
                  <a:pt x="89" y="3"/>
                  <a:pt x="105" y="0"/>
                  <a:pt x="120" y="0"/>
                </a:cubicBezTo>
                <a:cubicBezTo>
                  <a:pt x="136" y="0"/>
                  <a:pt x="151" y="3"/>
                  <a:pt x="166" y="9"/>
                </a:cubicBezTo>
                <a:cubicBezTo>
                  <a:pt x="181" y="15"/>
                  <a:pt x="193" y="24"/>
                  <a:pt x="205" y="36"/>
                </a:cubicBezTo>
                <a:cubicBezTo>
                  <a:pt x="216" y="47"/>
                  <a:pt x="224" y="60"/>
                  <a:pt x="230" y="75"/>
                </a:cubicBezTo>
                <a:cubicBezTo>
                  <a:pt x="236" y="89"/>
                  <a:pt x="239" y="104"/>
                  <a:pt x="239" y="120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81" name=""/>
          <p:cNvSpPr txBox="1"/>
          <p:nvPr/>
        </p:nvSpPr>
        <p:spPr>
          <a:xfrm>
            <a:off x="857160" y="3774600"/>
            <a:ext cx="3701160" cy="325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870" spc="-1" strike="noStrike">
                <a:solidFill>
                  <a:srgbClr val="1f2328"/>
                </a:solidFill>
                <a:latin typeface="NotoSans"/>
                <a:ea typeface="NotoSans"/>
              </a:rPr>
              <a:t>scaﬀolding, or social negotiation.</a:t>
            </a:r>
            <a:endParaRPr b="0" lang="en-US" sz="18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2" name=""/>
          <p:cNvSpPr txBox="1"/>
          <p:nvPr/>
        </p:nvSpPr>
        <p:spPr>
          <a:xfrm>
            <a:off x="857160" y="4193640"/>
            <a:ext cx="10888200" cy="325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870" spc="-1" strike="noStrike">
                <a:solidFill>
                  <a:srgbClr val="1f2328"/>
                </a:solidFill>
                <a:latin typeface="NotoSans"/>
                <a:ea typeface="NotoSans"/>
              </a:rPr>
              <a:t>Deliberate selection minimizes extraneous cognitive load and maximizes germane eﬀort required</a:t>
            </a:r>
            <a:endParaRPr b="0" lang="en-US" sz="18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3" name=""/>
          <p:cNvSpPr txBox="1"/>
          <p:nvPr/>
        </p:nvSpPr>
        <p:spPr>
          <a:xfrm>
            <a:off x="857160" y="4546080"/>
            <a:ext cx="3833640" cy="325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870" spc="-1" strike="noStrike">
                <a:solidFill>
                  <a:srgbClr val="1f2328"/>
                </a:solidFill>
                <a:latin typeface="NotoSans"/>
                <a:ea typeface="NotoSans"/>
              </a:rPr>
              <a:t>for successful knowledge transfer.</a:t>
            </a:r>
            <a:endParaRPr b="0" lang="en-US" sz="18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4" name=""/>
          <p:cNvSpPr txBox="1"/>
          <p:nvPr/>
        </p:nvSpPr>
        <p:spPr>
          <a:xfrm>
            <a:off x="11775600" y="6327720"/>
            <a:ext cx="228240" cy="311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800" spc="-1" strike="noStrike">
                <a:solidFill>
                  <a:srgbClr val="777777"/>
                </a:solidFill>
                <a:latin typeface="NotoSans"/>
                <a:ea typeface="NotoSans"/>
              </a:rPr>
              <a:t>4</a:t>
            </a:r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6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7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8" name=""/>
          <p:cNvSpPr/>
          <p:nvPr/>
        </p:nvSpPr>
        <p:spPr>
          <a:xfrm>
            <a:off x="618840" y="2761920"/>
            <a:ext cx="86040" cy="86400"/>
          </a:xfrm>
          <a:custGeom>
            <a:avLst/>
            <a:gdLst/>
            <a:ahLst/>
            <a:rect l="0" t="0" r="r" b="b"/>
            <a:pathLst>
              <a:path w="239" h="240">
                <a:moveTo>
                  <a:pt x="239" y="120"/>
                </a:moveTo>
                <a:cubicBezTo>
                  <a:pt x="239" y="136"/>
                  <a:pt x="236" y="151"/>
                  <a:pt x="230" y="166"/>
                </a:cubicBezTo>
                <a:cubicBezTo>
                  <a:pt x="224" y="181"/>
                  <a:pt x="216" y="194"/>
                  <a:pt x="205" y="205"/>
                </a:cubicBezTo>
                <a:cubicBezTo>
                  <a:pt x="193" y="216"/>
                  <a:pt x="181" y="224"/>
                  <a:pt x="166" y="230"/>
                </a:cubicBezTo>
                <a:cubicBezTo>
                  <a:pt x="151" y="237"/>
                  <a:pt x="136" y="240"/>
                  <a:pt x="120" y="240"/>
                </a:cubicBezTo>
                <a:cubicBezTo>
                  <a:pt x="105" y="240"/>
                  <a:pt x="89" y="237"/>
                  <a:pt x="75" y="230"/>
                </a:cubicBezTo>
                <a:cubicBezTo>
                  <a:pt x="59" y="224"/>
                  <a:pt x="46" y="216"/>
                  <a:pt x="35" y="205"/>
                </a:cubicBezTo>
                <a:cubicBezTo>
                  <a:pt x="24" y="194"/>
                  <a:pt x="15" y="181"/>
                  <a:pt x="9" y="166"/>
                </a:cubicBezTo>
                <a:cubicBezTo>
                  <a:pt x="3" y="151"/>
                  <a:pt x="0" y="136"/>
                  <a:pt x="0" y="120"/>
                </a:cubicBezTo>
                <a:cubicBezTo>
                  <a:pt x="0" y="105"/>
                  <a:pt x="3" y="90"/>
                  <a:pt x="9" y="75"/>
                </a:cubicBezTo>
                <a:cubicBezTo>
                  <a:pt x="15" y="59"/>
                  <a:pt x="24" y="46"/>
                  <a:pt x="35" y="35"/>
                </a:cubicBezTo>
                <a:cubicBezTo>
                  <a:pt x="46" y="24"/>
                  <a:pt x="59" y="16"/>
                  <a:pt x="75" y="9"/>
                </a:cubicBezTo>
                <a:cubicBezTo>
                  <a:pt x="89" y="3"/>
                  <a:pt x="105" y="0"/>
                  <a:pt x="120" y="0"/>
                </a:cubicBezTo>
                <a:cubicBezTo>
                  <a:pt x="136" y="0"/>
                  <a:pt x="151" y="3"/>
                  <a:pt x="166" y="9"/>
                </a:cubicBezTo>
                <a:cubicBezTo>
                  <a:pt x="181" y="16"/>
                  <a:pt x="193" y="24"/>
                  <a:pt x="205" y="35"/>
                </a:cubicBezTo>
                <a:cubicBezTo>
                  <a:pt x="216" y="46"/>
                  <a:pt x="224" y="59"/>
                  <a:pt x="230" y="75"/>
                </a:cubicBezTo>
                <a:cubicBezTo>
                  <a:pt x="236" y="90"/>
                  <a:pt x="239" y="105"/>
                  <a:pt x="239" y="120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89" name=""/>
          <p:cNvSpPr txBox="1"/>
          <p:nvPr/>
        </p:nvSpPr>
        <p:spPr>
          <a:xfrm>
            <a:off x="380880" y="1939320"/>
            <a:ext cx="4621320" cy="45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2620" spc="-1" strike="noStrike">
                <a:solidFill>
                  <a:srgbClr val="333333"/>
                </a:solidFill>
                <a:latin typeface="NotoSans-Semi"/>
                <a:ea typeface="NotoSans-Semi"/>
              </a:rPr>
              <a:t>AI-Driven Toolkit Expansion</a:t>
            </a:r>
            <a:endParaRPr b="0" lang="en-US" sz="262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0" name=""/>
          <p:cNvSpPr txBox="1"/>
          <p:nvPr/>
        </p:nvSpPr>
        <p:spPr>
          <a:xfrm>
            <a:off x="857160" y="2640960"/>
            <a:ext cx="10609200" cy="325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870" spc="-1" strike="noStrike">
                <a:solidFill>
                  <a:srgbClr val="1f2328"/>
                </a:solidFill>
                <a:latin typeface="NotoSans"/>
                <a:ea typeface="NotoSans"/>
              </a:rPr>
              <a:t>Modern artiﬁcial intelligence radically expands the traditional toolkit by enabling dynamic, real-</a:t>
            </a:r>
            <a:endParaRPr b="0" lang="en-US" sz="18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1" name=""/>
          <p:cNvSpPr/>
          <p:nvPr/>
        </p:nvSpPr>
        <p:spPr>
          <a:xfrm>
            <a:off x="618840" y="3543120"/>
            <a:ext cx="86040" cy="86040"/>
          </a:xfrm>
          <a:custGeom>
            <a:avLst/>
            <a:gdLst/>
            <a:ahLst/>
            <a:rect l="0" t="0" r="r" b="b"/>
            <a:pathLst>
              <a:path w="239" h="239">
                <a:moveTo>
                  <a:pt x="239" y="120"/>
                </a:moveTo>
                <a:cubicBezTo>
                  <a:pt x="239" y="136"/>
                  <a:pt x="236" y="151"/>
                  <a:pt x="230" y="166"/>
                </a:cubicBezTo>
                <a:cubicBezTo>
                  <a:pt x="224" y="180"/>
                  <a:pt x="216" y="193"/>
                  <a:pt x="205" y="204"/>
                </a:cubicBezTo>
                <a:cubicBezTo>
                  <a:pt x="193" y="215"/>
                  <a:pt x="181" y="224"/>
                  <a:pt x="166" y="230"/>
                </a:cubicBezTo>
                <a:cubicBezTo>
                  <a:pt x="151" y="236"/>
                  <a:pt x="136" y="239"/>
                  <a:pt x="120" y="239"/>
                </a:cubicBezTo>
                <a:cubicBezTo>
                  <a:pt x="105" y="239"/>
                  <a:pt x="89" y="236"/>
                  <a:pt x="75" y="230"/>
                </a:cubicBezTo>
                <a:cubicBezTo>
                  <a:pt x="59" y="224"/>
                  <a:pt x="46" y="215"/>
                  <a:pt x="35" y="204"/>
                </a:cubicBezTo>
                <a:cubicBezTo>
                  <a:pt x="24" y="193"/>
                  <a:pt x="15" y="180"/>
                  <a:pt x="9" y="166"/>
                </a:cubicBezTo>
                <a:cubicBezTo>
                  <a:pt x="3" y="151"/>
                  <a:pt x="0" y="136"/>
                  <a:pt x="0" y="120"/>
                </a:cubicBezTo>
                <a:cubicBezTo>
                  <a:pt x="0" y="104"/>
                  <a:pt x="3" y="89"/>
                  <a:pt x="9" y="74"/>
                </a:cubicBezTo>
                <a:cubicBezTo>
                  <a:pt x="15" y="60"/>
                  <a:pt x="24" y="47"/>
                  <a:pt x="35" y="36"/>
                </a:cubicBezTo>
                <a:cubicBezTo>
                  <a:pt x="46" y="24"/>
                  <a:pt x="59" y="15"/>
                  <a:pt x="75" y="9"/>
                </a:cubicBezTo>
                <a:cubicBezTo>
                  <a:pt x="89" y="3"/>
                  <a:pt x="105" y="0"/>
                  <a:pt x="120" y="0"/>
                </a:cubicBezTo>
                <a:cubicBezTo>
                  <a:pt x="136" y="0"/>
                  <a:pt x="151" y="3"/>
                  <a:pt x="166" y="9"/>
                </a:cubicBezTo>
                <a:cubicBezTo>
                  <a:pt x="181" y="15"/>
                  <a:pt x="193" y="24"/>
                  <a:pt x="205" y="36"/>
                </a:cubicBezTo>
                <a:cubicBezTo>
                  <a:pt x="216" y="47"/>
                  <a:pt x="224" y="60"/>
                  <a:pt x="230" y="74"/>
                </a:cubicBezTo>
                <a:cubicBezTo>
                  <a:pt x="236" y="89"/>
                  <a:pt x="239" y="104"/>
                  <a:pt x="239" y="120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92" name=""/>
          <p:cNvSpPr txBox="1"/>
          <p:nvPr/>
        </p:nvSpPr>
        <p:spPr>
          <a:xfrm>
            <a:off x="857160" y="3003120"/>
            <a:ext cx="2951280" cy="325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870" spc="-1" strike="noStrike">
                <a:solidFill>
                  <a:srgbClr val="1f2328"/>
                </a:solidFill>
                <a:latin typeface="NotoSans"/>
                <a:ea typeface="NotoSans"/>
              </a:rPr>
              <a:t>time theoretical switching.</a:t>
            </a:r>
            <a:endParaRPr b="0" lang="en-US" sz="18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3" name=""/>
          <p:cNvSpPr txBox="1"/>
          <p:nvPr/>
        </p:nvSpPr>
        <p:spPr>
          <a:xfrm>
            <a:off x="857160" y="3422160"/>
            <a:ext cx="10386720" cy="325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870" spc="-1" strike="noStrike">
                <a:solidFill>
                  <a:srgbClr val="1f2328"/>
                </a:solidFill>
                <a:latin typeface="NotoSans"/>
                <a:ea typeface="NotoSans"/>
              </a:rPr>
              <a:t>Intelligent tutoring systems can instantaneously pivot from rote behaviorist reinforcement to</a:t>
            </a:r>
            <a:endParaRPr b="0" lang="en-US" sz="18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4" name=""/>
          <p:cNvSpPr/>
          <p:nvPr/>
        </p:nvSpPr>
        <p:spPr>
          <a:xfrm>
            <a:off x="618840" y="4314600"/>
            <a:ext cx="86040" cy="86040"/>
          </a:xfrm>
          <a:custGeom>
            <a:avLst/>
            <a:gdLst/>
            <a:ahLst/>
            <a:rect l="0" t="0" r="r" b="b"/>
            <a:pathLst>
              <a:path w="239" h="239">
                <a:moveTo>
                  <a:pt x="239" y="120"/>
                </a:moveTo>
                <a:cubicBezTo>
                  <a:pt x="239" y="136"/>
                  <a:pt x="236" y="151"/>
                  <a:pt x="230" y="166"/>
                </a:cubicBezTo>
                <a:cubicBezTo>
                  <a:pt x="224" y="180"/>
                  <a:pt x="216" y="193"/>
                  <a:pt x="205" y="204"/>
                </a:cubicBezTo>
                <a:cubicBezTo>
                  <a:pt x="193" y="216"/>
                  <a:pt x="181" y="224"/>
                  <a:pt x="166" y="230"/>
                </a:cubicBezTo>
                <a:cubicBezTo>
                  <a:pt x="151" y="236"/>
                  <a:pt x="136" y="239"/>
                  <a:pt x="120" y="239"/>
                </a:cubicBezTo>
                <a:cubicBezTo>
                  <a:pt x="105" y="239"/>
                  <a:pt x="89" y="236"/>
                  <a:pt x="75" y="230"/>
                </a:cubicBezTo>
                <a:cubicBezTo>
                  <a:pt x="59" y="224"/>
                  <a:pt x="46" y="216"/>
                  <a:pt x="35" y="204"/>
                </a:cubicBezTo>
                <a:cubicBezTo>
                  <a:pt x="24" y="193"/>
                  <a:pt x="15" y="180"/>
                  <a:pt x="9" y="166"/>
                </a:cubicBezTo>
                <a:cubicBezTo>
                  <a:pt x="3" y="151"/>
                  <a:pt x="0" y="136"/>
                  <a:pt x="0" y="120"/>
                </a:cubicBezTo>
                <a:cubicBezTo>
                  <a:pt x="0" y="104"/>
                  <a:pt x="3" y="89"/>
                  <a:pt x="9" y="75"/>
                </a:cubicBezTo>
                <a:cubicBezTo>
                  <a:pt x="15" y="60"/>
                  <a:pt x="24" y="47"/>
                  <a:pt x="35" y="36"/>
                </a:cubicBezTo>
                <a:cubicBezTo>
                  <a:pt x="46" y="24"/>
                  <a:pt x="59" y="15"/>
                  <a:pt x="75" y="9"/>
                </a:cubicBezTo>
                <a:cubicBezTo>
                  <a:pt x="89" y="3"/>
                  <a:pt x="105" y="0"/>
                  <a:pt x="120" y="0"/>
                </a:cubicBezTo>
                <a:cubicBezTo>
                  <a:pt x="136" y="0"/>
                  <a:pt x="151" y="3"/>
                  <a:pt x="166" y="9"/>
                </a:cubicBezTo>
                <a:cubicBezTo>
                  <a:pt x="181" y="15"/>
                  <a:pt x="193" y="24"/>
                  <a:pt x="205" y="36"/>
                </a:cubicBezTo>
                <a:cubicBezTo>
                  <a:pt x="216" y="47"/>
                  <a:pt x="224" y="60"/>
                  <a:pt x="230" y="75"/>
                </a:cubicBezTo>
                <a:cubicBezTo>
                  <a:pt x="236" y="89"/>
                  <a:pt x="239" y="104"/>
                  <a:pt x="239" y="120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95" name=""/>
          <p:cNvSpPr txBox="1"/>
          <p:nvPr/>
        </p:nvSpPr>
        <p:spPr>
          <a:xfrm>
            <a:off x="857160" y="3774600"/>
            <a:ext cx="3889800" cy="325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870" spc="-1" strike="noStrike">
                <a:solidFill>
                  <a:srgbClr val="1f2328"/>
                </a:solidFill>
                <a:latin typeface="NotoSans"/>
                <a:ea typeface="NotoSans"/>
              </a:rPr>
              <a:t>Socratic constructivist questioning.</a:t>
            </a:r>
            <a:endParaRPr b="0" lang="en-US" sz="18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6" name=""/>
          <p:cNvSpPr txBox="1"/>
          <p:nvPr/>
        </p:nvSpPr>
        <p:spPr>
          <a:xfrm>
            <a:off x="857160" y="4193640"/>
            <a:ext cx="9961560" cy="325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870" spc="-1" strike="noStrike">
                <a:solidFill>
                  <a:srgbClr val="1f2328"/>
                </a:solidFill>
                <a:latin typeface="NotoSans"/>
                <a:ea typeface="NotoSans"/>
              </a:rPr>
              <a:t>To leverage AI eﬀectively, instructional designers must deeply understand the underlying</a:t>
            </a:r>
            <a:endParaRPr b="0" lang="en-US" sz="18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7" name=""/>
          <p:cNvSpPr txBox="1"/>
          <p:nvPr/>
        </p:nvSpPr>
        <p:spPr>
          <a:xfrm>
            <a:off x="857160" y="4546080"/>
            <a:ext cx="4135320" cy="325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870" spc="-1" strike="noStrike">
                <a:solidFill>
                  <a:srgbClr val="1f2328"/>
                </a:solidFill>
                <a:latin typeface="NotoSans"/>
                <a:ea typeface="NotoSans"/>
              </a:rPr>
              <a:t>pedagogical mechanics of every tool.</a:t>
            </a:r>
            <a:endParaRPr b="0" lang="en-US" sz="18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8" name=""/>
          <p:cNvSpPr txBox="1"/>
          <p:nvPr/>
        </p:nvSpPr>
        <p:spPr>
          <a:xfrm>
            <a:off x="11775600" y="6327720"/>
            <a:ext cx="228240" cy="311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800" spc="-1" strike="noStrike">
                <a:solidFill>
                  <a:srgbClr val="777777"/>
                </a:solidFill>
                <a:latin typeface="NotoSans"/>
                <a:ea typeface="NotoSans"/>
              </a:rPr>
              <a:t>5</a:t>
            </a:r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6350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LibreOffice/7.4.7.2$Linux_AARCH64 LibreOffice_project/40$Build-2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en-US</dc:language>
  <cp:lastModifiedBy/>
  <cp:revision>0</cp:revision>
  <dc:subject/>
  <dc:title/>
</cp:coreProperties>
</file>