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59200"/>
            <a:ext cx="10972080" cy="5029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488760"/>
            <a:ext cx="109720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52028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488760"/>
            <a:ext cx="53542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28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8720" y="152028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28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8720" y="3488760"/>
            <a:ext cx="3532680" cy="1797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380880" y="3107520"/>
            <a:ext cx="8850600" cy="51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3000" spc="-1" strike="noStrike">
                <a:solidFill>
                  <a:srgbClr val="0288d1"/>
                </a:solidFill>
                <a:latin typeface="NotoSans-Semi"/>
                <a:ea typeface="NotoSans-Semi"/>
              </a:rPr>
              <a:t>Weather vs. Climate: Fundamental Diﬀerences</a:t>
            </a:r>
            <a:endParaRPr b="0" lang="en-US" sz="3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1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380880" y="1939320"/>
            <a:ext cx="916920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Meteorological Distinctions and Short-Term Conditions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857160" y="2640960"/>
            <a:ext cx="105238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Weather describes highly localized, short-term atmospheric conditions ﬂuctuating dynamically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857160" y="3003120"/>
            <a:ext cx="32529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over minutes, hours, or days.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857160" y="3422160"/>
            <a:ext cx="106488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It encompasses immediate meteorological variables like temperature, precipitation, barometric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857160" y="3774600"/>
            <a:ext cx="35913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pressure, and rapid wind speed.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857160" y="4193640"/>
            <a:ext cx="109278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Therefore, a localized winter storm or unseasonal snowfall reﬂects transient weather systems, not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 txBox="1"/>
          <p:nvPr/>
        </p:nvSpPr>
        <p:spPr>
          <a:xfrm>
            <a:off x="857160" y="4546080"/>
            <a:ext cx="31752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macro-level global warming.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2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380880" y="1939320"/>
            <a:ext cx="701712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Climate as Long-Term Statistical Averages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857160" y="2640960"/>
            <a:ext cx="10165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Climate represents the aggregate mathematical average of weather patterns observed in a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857160" y="3003120"/>
            <a:ext cx="42847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deﬁned region over extended periods.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857160" y="3422160"/>
            <a:ext cx="99507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World Meteorological Organization strictly deﬁnes the standard climate baseline as a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857160" y="3774600"/>
            <a:ext cx="44553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mandatory thirty-year minimum period.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857160" y="4193640"/>
            <a:ext cx="98290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This extensive timeframe successfully ﬁlters out chaotic daily anomalies to reveal stable,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"/>
          <p:cNvSpPr txBox="1"/>
          <p:nvPr/>
        </p:nvSpPr>
        <p:spPr>
          <a:xfrm>
            <a:off x="857160" y="4546080"/>
            <a:ext cx="32986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statistically signiﬁcant trends.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3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380880" y="1939320"/>
            <a:ext cx="770292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The Mood vs. Personality Mechanistic Analogy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857160" y="2640960"/>
            <a:ext cx="109414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To contextualize this, consider weather as an individual's current mood, which shifts rapidly based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857160" y="3003120"/>
            <a:ext cx="26953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on acute daily stressors.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857160" y="3422160"/>
            <a:ext cx="1097208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Conversely, climate represents an individual's foundational personality, remaining relatively stable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1" name=""/>
          <p:cNvSpPr txBox="1"/>
          <p:nvPr/>
        </p:nvSpPr>
        <p:spPr>
          <a:xfrm>
            <a:off x="857160" y="3774600"/>
            <a:ext cx="29376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and predictable over time.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"/>
          <p:cNvSpPr txBox="1"/>
          <p:nvPr/>
        </p:nvSpPr>
        <p:spPr>
          <a:xfrm>
            <a:off x="857160" y="4193640"/>
            <a:ext cx="108075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Confusing a temporary emotional reaction with a fundamental personality shift mirrors the error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3" name=""/>
          <p:cNvSpPr txBox="1"/>
          <p:nvPr/>
        </p:nvSpPr>
        <p:spPr>
          <a:xfrm>
            <a:off x="857160" y="4546080"/>
            <a:ext cx="387180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of conﬂating weather with climate.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4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618840" y="2761920"/>
            <a:ext cx="86040" cy="86400"/>
          </a:xfrm>
          <a:custGeom>
            <a:avLst/>
            <a:gdLst/>
            <a:ahLst/>
            <a:rect l="0" t="0" r="r" b="b"/>
            <a:pathLst>
              <a:path w="239" h="240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1"/>
                  <a:pt x="216" y="194"/>
                  <a:pt x="205" y="205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7"/>
                  <a:pt x="136" y="240"/>
                  <a:pt x="120" y="240"/>
                </a:cubicBezTo>
                <a:cubicBezTo>
                  <a:pt x="105" y="240"/>
                  <a:pt x="89" y="237"/>
                  <a:pt x="75" y="230"/>
                </a:cubicBezTo>
                <a:cubicBezTo>
                  <a:pt x="59" y="224"/>
                  <a:pt x="46" y="216"/>
                  <a:pt x="35" y="205"/>
                </a:cubicBezTo>
                <a:cubicBezTo>
                  <a:pt x="24" y="194"/>
                  <a:pt x="15" y="181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5"/>
                  <a:pt x="3" y="90"/>
                  <a:pt x="9" y="75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6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6"/>
                  <a:pt x="193" y="24"/>
                  <a:pt x="205" y="35"/>
                </a:cubicBezTo>
                <a:cubicBezTo>
                  <a:pt x="216" y="46"/>
                  <a:pt x="224" y="59"/>
                  <a:pt x="230" y="75"/>
                </a:cubicBezTo>
                <a:cubicBezTo>
                  <a:pt x="236" y="90"/>
                  <a:pt x="239" y="105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380880" y="1939320"/>
            <a:ext cx="7742520" cy="45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1" lang="en-US" sz="2620" spc="-1" strike="noStrike">
                <a:solidFill>
                  <a:srgbClr val="333333"/>
                </a:solidFill>
                <a:latin typeface="NotoSans-Semi"/>
                <a:ea typeface="NotoSans-Semi"/>
              </a:rPr>
              <a:t>Analyzing the 2023 Paleoclimatological Reality</a:t>
            </a:r>
            <a:endParaRPr b="0" lang="en-US" sz="262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57160" y="2640960"/>
            <a:ext cx="103640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Scientists utilize highly robust proxy data from ancient ice cores and tree rings to reconstruct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618840" y="354312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5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2" name=""/>
          <p:cNvSpPr txBox="1"/>
          <p:nvPr/>
        </p:nvSpPr>
        <p:spPr>
          <a:xfrm>
            <a:off x="857160" y="3003120"/>
            <a:ext cx="34311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historical global temperatures.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8986680" y="3476520"/>
            <a:ext cx="115560" cy="192600"/>
          </a:xfrm>
          <a:custGeom>
            <a:avLst/>
            <a:gdLst/>
            <a:ahLst/>
            <a:rect l="0" t="0" r="r" b="b"/>
            <a:pathLst>
              <a:path w="321" h="535">
                <a:moveTo>
                  <a:pt x="48" y="190"/>
                </a:moveTo>
                <a:cubicBezTo>
                  <a:pt x="33" y="190"/>
                  <a:pt x="22" y="185"/>
                  <a:pt x="13" y="175"/>
                </a:cubicBezTo>
                <a:cubicBezTo>
                  <a:pt x="5" y="166"/>
                  <a:pt x="0" y="154"/>
                  <a:pt x="0" y="140"/>
                </a:cubicBezTo>
                <a:cubicBezTo>
                  <a:pt x="0" y="102"/>
                  <a:pt x="15" y="69"/>
                  <a:pt x="43" y="42"/>
                </a:cubicBezTo>
                <a:cubicBezTo>
                  <a:pt x="71" y="14"/>
                  <a:pt x="106" y="0"/>
                  <a:pt x="149" y="0"/>
                </a:cubicBezTo>
                <a:cubicBezTo>
                  <a:pt x="198" y="0"/>
                  <a:pt x="239" y="15"/>
                  <a:pt x="272" y="45"/>
                </a:cubicBezTo>
                <a:cubicBezTo>
                  <a:pt x="304" y="75"/>
                  <a:pt x="321" y="113"/>
                  <a:pt x="321" y="161"/>
                </a:cubicBezTo>
                <a:cubicBezTo>
                  <a:pt x="321" y="184"/>
                  <a:pt x="316" y="206"/>
                  <a:pt x="305" y="228"/>
                </a:cubicBezTo>
                <a:cubicBezTo>
                  <a:pt x="295" y="249"/>
                  <a:pt x="282" y="267"/>
                  <a:pt x="267" y="282"/>
                </a:cubicBezTo>
                <a:cubicBezTo>
                  <a:pt x="252" y="298"/>
                  <a:pt x="230" y="318"/>
                  <a:pt x="203" y="342"/>
                </a:cubicBezTo>
                <a:cubicBezTo>
                  <a:pt x="183" y="358"/>
                  <a:pt x="156" y="383"/>
                  <a:pt x="121" y="415"/>
                </a:cubicBezTo>
                <a:lnTo>
                  <a:pt x="74" y="460"/>
                </a:lnTo>
                <a:lnTo>
                  <a:pt x="135" y="461"/>
                </a:lnTo>
                <a:cubicBezTo>
                  <a:pt x="220" y="461"/>
                  <a:pt x="265" y="460"/>
                  <a:pt x="270" y="457"/>
                </a:cubicBezTo>
                <a:cubicBezTo>
                  <a:pt x="274" y="456"/>
                  <a:pt x="280" y="432"/>
                  <a:pt x="289" y="386"/>
                </a:cubicBezTo>
                <a:lnTo>
                  <a:pt x="289" y="383"/>
                </a:lnTo>
                <a:lnTo>
                  <a:pt x="321" y="383"/>
                </a:lnTo>
                <a:lnTo>
                  <a:pt x="321" y="386"/>
                </a:lnTo>
                <a:cubicBezTo>
                  <a:pt x="321" y="387"/>
                  <a:pt x="317" y="412"/>
                  <a:pt x="311" y="459"/>
                </a:cubicBezTo>
                <a:cubicBezTo>
                  <a:pt x="305" y="506"/>
                  <a:pt x="301" y="530"/>
                  <a:pt x="299" y="533"/>
                </a:cubicBezTo>
                <a:lnTo>
                  <a:pt x="299" y="535"/>
                </a:lnTo>
                <a:lnTo>
                  <a:pt x="0" y="535"/>
                </a:lnTo>
                <a:lnTo>
                  <a:pt x="0" y="520"/>
                </a:lnTo>
                <a:lnTo>
                  <a:pt x="0" y="510"/>
                </a:lnTo>
                <a:cubicBezTo>
                  <a:pt x="0" y="506"/>
                  <a:pt x="2" y="502"/>
                  <a:pt x="5" y="498"/>
                </a:cubicBezTo>
                <a:cubicBezTo>
                  <a:pt x="8" y="494"/>
                  <a:pt x="16" y="484"/>
                  <a:pt x="29" y="470"/>
                </a:cubicBezTo>
                <a:cubicBezTo>
                  <a:pt x="45" y="453"/>
                  <a:pt x="58" y="438"/>
                  <a:pt x="69" y="425"/>
                </a:cubicBezTo>
                <a:cubicBezTo>
                  <a:pt x="74" y="420"/>
                  <a:pt x="83" y="410"/>
                  <a:pt x="97" y="395"/>
                </a:cubicBezTo>
                <a:cubicBezTo>
                  <a:pt x="110" y="381"/>
                  <a:pt x="119" y="371"/>
                  <a:pt x="124" y="366"/>
                </a:cubicBezTo>
                <a:cubicBezTo>
                  <a:pt x="129" y="360"/>
                  <a:pt x="136" y="352"/>
                  <a:pt x="147" y="339"/>
                </a:cubicBezTo>
                <a:cubicBezTo>
                  <a:pt x="159" y="327"/>
                  <a:pt x="166" y="318"/>
                  <a:pt x="171" y="312"/>
                </a:cubicBezTo>
                <a:cubicBezTo>
                  <a:pt x="175" y="306"/>
                  <a:pt x="181" y="298"/>
                  <a:pt x="189" y="288"/>
                </a:cubicBezTo>
                <a:cubicBezTo>
                  <a:pt x="197" y="278"/>
                  <a:pt x="203" y="269"/>
                  <a:pt x="206" y="262"/>
                </a:cubicBezTo>
                <a:cubicBezTo>
                  <a:pt x="209" y="255"/>
                  <a:pt x="213" y="248"/>
                  <a:pt x="218" y="239"/>
                </a:cubicBezTo>
                <a:cubicBezTo>
                  <a:pt x="223" y="230"/>
                  <a:pt x="226" y="221"/>
                  <a:pt x="228" y="212"/>
                </a:cubicBezTo>
                <a:cubicBezTo>
                  <a:pt x="230" y="204"/>
                  <a:pt x="232" y="196"/>
                  <a:pt x="234" y="188"/>
                </a:cubicBezTo>
                <a:cubicBezTo>
                  <a:pt x="236" y="181"/>
                  <a:pt x="236" y="172"/>
                  <a:pt x="236" y="162"/>
                </a:cubicBezTo>
                <a:cubicBezTo>
                  <a:pt x="236" y="128"/>
                  <a:pt x="227" y="99"/>
                  <a:pt x="209" y="74"/>
                </a:cubicBezTo>
                <a:cubicBezTo>
                  <a:pt x="191" y="50"/>
                  <a:pt x="165" y="38"/>
                  <a:pt x="130" y="38"/>
                </a:cubicBezTo>
                <a:cubicBezTo>
                  <a:pt x="113" y="38"/>
                  <a:pt x="97" y="42"/>
                  <a:pt x="84" y="51"/>
                </a:cubicBezTo>
                <a:cubicBezTo>
                  <a:pt x="70" y="60"/>
                  <a:pt x="61" y="69"/>
                  <a:pt x="56" y="78"/>
                </a:cubicBezTo>
                <a:cubicBezTo>
                  <a:pt x="50" y="86"/>
                  <a:pt x="48" y="91"/>
                  <a:pt x="48" y="93"/>
                </a:cubicBezTo>
                <a:cubicBezTo>
                  <a:pt x="48" y="93"/>
                  <a:pt x="49" y="94"/>
                  <a:pt x="52" y="94"/>
                </a:cubicBezTo>
                <a:cubicBezTo>
                  <a:pt x="61" y="94"/>
                  <a:pt x="71" y="97"/>
                  <a:pt x="81" y="105"/>
                </a:cubicBezTo>
                <a:cubicBezTo>
                  <a:pt x="92" y="112"/>
                  <a:pt x="97" y="125"/>
                  <a:pt x="97" y="142"/>
                </a:cubicBezTo>
                <a:cubicBezTo>
                  <a:pt x="97" y="155"/>
                  <a:pt x="92" y="166"/>
                  <a:pt x="84" y="175"/>
                </a:cubicBezTo>
                <a:cubicBezTo>
                  <a:pt x="75" y="185"/>
                  <a:pt x="63" y="189"/>
                  <a:pt x="48" y="19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9128160" y="3476520"/>
            <a:ext cx="121680" cy="199080"/>
          </a:xfrm>
          <a:custGeom>
            <a:avLst/>
            <a:gdLst/>
            <a:ahLst/>
            <a:rect l="0" t="0" r="r" b="b"/>
            <a:pathLst>
              <a:path w="338" h="553">
                <a:moveTo>
                  <a:pt x="45" y="65"/>
                </a:moveTo>
                <a:cubicBezTo>
                  <a:pt x="75" y="22"/>
                  <a:pt x="117" y="0"/>
                  <a:pt x="169" y="0"/>
                </a:cubicBezTo>
                <a:cubicBezTo>
                  <a:pt x="195" y="0"/>
                  <a:pt x="220" y="7"/>
                  <a:pt x="246" y="21"/>
                </a:cubicBezTo>
                <a:cubicBezTo>
                  <a:pt x="272" y="35"/>
                  <a:pt x="292" y="59"/>
                  <a:pt x="309" y="94"/>
                </a:cubicBezTo>
                <a:cubicBezTo>
                  <a:pt x="328" y="139"/>
                  <a:pt x="338" y="200"/>
                  <a:pt x="338" y="277"/>
                </a:cubicBezTo>
                <a:cubicBezTo>
                  <a:pt x="338" y="360"/>
                  <a:pt x="327" y="424"/>
                  <a:pt x="304" y="467"/>
                </a:cubicBezTo>
                <a:cubicBezTo>
                  <a:pt x="293" y="490"/>
                  <a:pt x="278" y="508"/>
                  <a:pt x="260" y="521"/>
                </a:cubicBezTo>
                <a:cubicBezTo>
                  <a:pt x="241" y="535"/>
                  <a:pt x="225" y="544"/>
                  <a:pt x="211" y="547"/>
                </a:cubicBezTo>
                <a:cubicBezTo>
                  <a:pt x="197" y="550"/>
                  <a:pt x="183" y="552"/>
                  <a:pt x="170" y="553"/>
                </a:cubicBezTo>
                <a:cubicBezTo>
                  <a:pt x="156" y="553"/>
                  <a:pt x="142" y="551"/>
                  <a:pt x="128" y="548"/>
                </a:cubicBezTo>
                <a:cubicBezTo>
                  <a:pt x="114" y="545"/>
                  <a:pt x="98" y="535"/>
                  <a:pt x="78" y="521"/>
                </a:cubicBezTo>
                <a:cubicBezTo>
                  <a:pt x="59" y="507"/>
                  <a:pt x="45" y="489"/>
                  <a:pt x="34" y="467"/>
                </a:cubicBezTo>
                <a:cubicBezTo>
                  <a:pt x="11" y="424"/>
                  <a:pt x="0" y="360"/>
                  <a:pt x="0" y="277"/>
                </a:cubicBezTo>
                <a:cubicBezTo>
                  <a:pt x="0" y="184"/>
                  <a:pt x="15" y="113"/>
                  <a:pt x="45" y="65"/>
                </a:cubicBezTo>
                <a:moveTo>
                  <a:pt x="227" y="55"/>
                </a:moveTo>
                <a:cubicBezTo>
                  <a:pt x="211" y="38"/>
                  <a:pt x="192" y="30"/>
                  <a:pt x="170" y="30"/>
                </a:cubicBezTo>
                <a:cubicBezTo>
                  <a:pt x="147" y="30"/>
                  <a:pt x="128" y="38"/>
                  <a:pt x="112" y="55"/>
                </a:cubicBezTo>
                <a:cubicBezTo>
                  <a:pt x="99" y="69"/>
                  <a:pt x="90" y="88"/>
                  <a:pt x="85" y="113"/>
                </a:cubicBezTo>
                <a:cubicBezTo>
                  <a:pt x="80" y="138"/>
                  <a:pt x="78" y="189"/>
                  <a:pt x="78" y="267"/>
                </a:cubicBezTo>
                <a:cubicBezTo>
                  <a:pt x="78" y="351"/>
                  <a:pt x="80" y="407"/>
                  <a:pt x="85" y="434"/>
                </a:cubicBezTo>
                <a:cubicBezTo>
                  <a:pt x="90" y="460"/>
                  <a:pt x="99" y="482"/>
                  <a:pt x="114" y="497"/>
                </a:cubicBezTo>
                <a:cubicBezTo>
                  <a:pt x="129" y="513"/>
                  <a:pt x="148" y="521"/>
                  <a:pt x="170" y="521"/>
                </a:cubicBezTo>
                <a:cubicBezTo>
                  <a:pt x="191" y="521"/>
                  <a:pt x="209" y="513"/>
                  <a:pt x="224" y="497"/>
                </a:cubicBezTo>
                <a:cubicBezTo>
                  <a:pt x="240" y="481"/>
                  <a:pt x="249" y="459"/>
                  <a:pt x="253" y="430"/>
                </a:cubicBezTo>
                <a:cubicBezTo>
                  <a:pt x="257" y="401"/>
                  <a:pt x="259" y="347"/>
                  <a:pt x="260" y="267"/>
                </a:cubicBezTo>
                <a:cubicBezTo>
                  <a:pt x="260" y="189"/>
                  <a:pt x="257" y="138"/>
                  <a:pt x="253" y="114"/>
                </a:cubicBezTo>
                <a:cubicBezTo>
                  <a:pt x="249" y="89"/>
                  <a:pt x="240" y="70"/>
                  <a:pt x="227" y="55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9275400" y="3476520"/>
            <a:ext cx="115560" cy="192600"/>
          </a:xfrm>
          <a:custGeom>
            <a:avLst/>
            <a:gdLst/>
            <a:ahLst/>
            <a:rect l="0" t="0" r="r" b="b"/>
            <a:pathLst>
              <a:path w="321" h="535">
                <a:moveTo>
                  <a:pt x="48" y="190"/>
                </a:moveTo>
                <a:cubicBezTo>
                  <a:pt x="33" y="190"/>
                  <a:pt x="22" y="185"/>
                  <a:pt x="13" y="175"/>
                </a:cubicBezTo>
                <a:cubicBezTo>
                  <a:pt x="5" y="166"/>
                  <a:pt x="0" y="154"/>
                  <a:pt x="0" y="140"/>
                </a:cubicBezTo>
                <a:cubicBezTo>
                  <a:pt x="0" y="102"/>
                  <a:pt x="15" y="69"/>
                  <a:pt x="43" y="42"/>
                </a:cubicBezTo>
                <a:cubicBezTo>
                  <a:pt x="71" y="14"/>
                  <a:pt x="107" y="0"/>
                  <a:pt x="149" y="0"/>
                </a:cubicBezTo>
                <a:cubicBezTo>
                  <a:pt x="197" y="0"/>
                  <a:pt x="238" y="15"/>
                  <a:pt x="271" y="45"/>
                </a:cubicBezTo>
                <a:cubicBezTo>
                  <a:pt x="303" y="75"/>
                  <a:pt x="321" y="113"/>
                  <a:pt x="321" y="161"/>
                </a:cubicBezTo>
                <a:cubicBezTo>
                  <a:pt x="321" y="184"/>
                  <a:pt x="316" y="206"/>
                  <a:pt x="304" y="228"/>
                </a:cubicBezTo>
                <a:cubicBezTo>
                  <a:pt x="294" y="249"/>
                  <a:pt x="281" y="267"/>
                  <a:pt x="266" y="282"/>
                </a:cubicBezTo>
                <a:cubicBezTo>
                  <a:pt x="251" y="298"/>
                  <a:pt x="229" y="318"/>
                  <a:pt x="202" y="342"/>
                </a:cubicBezTo>
                <a:cubicBezTo>
                  <a:pt x="182" y="358"/>
                  <a:pt x="156" y="383"/>
                  <a:pt x="121" y="415"/>
                </a:cubicBezTo>
                <a:lnTo>
                  <a:pt x="74" y="460"/>
                </a:lnTo>
                <a:lnTo>
                  <a:pt x="135" y="461"/>
                </a:lnTo>
                <a:cubicBezTo>
                  <a:pt x="219" y="461"/>
                  <a:pt x="264" y="460"/>
                  <a:pt x="269" y="457"/>
                </a:cubicBezTo>
                <a:cubicBezTo>
                  <a:pt x="273" y="456"/>
                  <a:pt x="279" y="432"/>
                  <a:pt x="288" y="386"/>
                </a:cubicBezTo>
                <a:lnTo>
                  <a:pt x="288" y="383"/>
                </a:lnTo>
                <a:lnTo>
                  <a:pt x="321" y="383"/>
                </a:lnTo>
                <a:lnTo>
                  <a:pt x="321" y="386"/>
                </a:lnTo>
                <a:cubicBezTo>
                  <a:pt x="321" y="387"/>
                  <a:pt x="317" y="412"/>
                  <a:pt x="310" y="459"/>
                </a:cubicBezTo>
                <a:cubicBezTo>
                  <a:pt x="304" y="506"/>
                  <a:pt x="300" y="530"/>
                  <a:pt x="298" y="533"/>
                </a:cubicBezTo>
                <a:lnTo>
                  <a:pt x="298" y="535"/>
                </a:lnTo>
                <a:lnTo>
                  <a:pt x="0" y="535"/>
                </a:lnTo>
                <a:lnTo>
                  <a:pt x="0" y="520"/>
                </a:lnTo>
                <a:lnTo>
                  <a:pt x="0" y="510"/>
                </a:lnTo>
                <a:cubicBezTo>
                  <a:pt x="0" y="506"/>
                  <a:pt x="2" y="502"/>
                  <a:pt x="5" y="498"/>
                </a:cubicBezTo>
                <a:cubicBezTo>
                  <a:pt x="8" y="494"/>
                  <a:pt x="16" y="484"/>
                  <a:pt x="29" y="470"/>
                </a:cubicBezTo>
                <a:cubicBezTo>
                  <a:pt x="45" y="453"/>
                  <a:pt x="58" y="438"/>
                  <a:pt x="69" y="425"/>
                </a:cubicBezTo>
                <a:cubicBezTo>
                  <a:pt x="74" y="420"/>
                  <a:pt x="83" y="410"/>
                  <a:pt x="97" y="395"/>
                </a:cubicBezTo>
                <a:cubicBezTo>
                  <a:pt x="110" y="381"/>
                  <a:pt x="119" y="371"/>
                  <a:pt x="124" y="366"/>
                </a:cubicBezTo>
                <a:cubicBezTo>
                  <a:pt x="129" y="360"/>
                  <a:pt x="136" y="352"/>
                  <a:pt x="147" y="339"/>
                </a:cubicBezTo>
                <a:cubicBezTo>
                  <a:pt x="158" y="327"/>
                  <a:pt x="165" y="318"/>
                  <a:pt x="170" y="312"/>
                </a:cubicBezTo>
                <a:cubicBezTo>
                  <a:pt x="174" y="306"/>
                  <a:pt x="180" y="298"/>
                  <a:pt x="188" y="288"/>
                </a:cubicBezTo>
                <a:cubicBezTo>
                  <a:pt x="196" y="278"/>
                  <a:pt x="202" y="269"/>
                  <a:pt x="205" y="262"/>
                </a:cubicBezTo>
                <a:cubicBezTo>
                  <a:pt x="208" y="255"/>
                  <a:pt x="212" y="248"/>
                  <a:pt x="217" y="239"/>
                </a:cubicBezTo>
                <a:cubicBezTo>
                  <a:pt x="222" y="230"/>
                  <a:pt x="225" y="221"/>
                  <a:pt x="227" y="212"/>
                </a:cubicBezTo>
                <a:cubicBezTo>
                  <a:pt x="229" y="204"/>
                  <a:pt x="231" y="196"/>
                  <a:pt x="233" y="188"/>
                </a:cubicBezTo>
                <a:cubicBezTo>
                  <a:pt x="235" y="181"/>
                  <a:pt x="235" y="172"/>
                  <a:pt x="235" y="162"/>
                </a:cubicBezTo>
                <a:cubicBezTo>
                  <a:pt x="235" y="128"/>
                  <a:pt x="226" y="99"/>
                  <a:pt x="208" y="74"/>
                </a:cubicBezTo>
                <a:cubicBezTo>
                  <a:pt x="190" y="50"/>
                  <a:pt x="164" y="38"/>
                  <a:pt x="130" y="38"/>
                </a:cubicBezTo>
                <a:cubicBezTo>
                  <a:pt x="113" y="38"/>
                  <a:pt x="97" y="42"/>
                  <a:pt x="84" y="51"/>
                </a:cubicBezTo>
                <a:cubicBezTo>
                  <a:pt x="70" y="60"/>
                  <a:pt x="61" y="69"/>
                  <a:pt x="56" y="78"/>
                </a:cubicBezTo>
                <a:cubicBezTo>
                  <a:pt x="50" y="86"/>
                  <a:pt x="48" y="91"/>
                  <a:pt x="48" y="93"/>
                </a:cubicBezTo>
                <a:cubicBezTo>
                  <a:pt x="48" y="93"/>
                  <a:pt x="49" y="94"/>
                  <a:pt x="52" y="94"/>
                </a:cubicBezTo>
                <a:cubicBezTo>
                  <a:pt x="61" y="94"/>
                  <a:pt x="71" y="97"/>
                  <a:pt x="81" y="105"/>
                </a:cubicBezTo>
                <a:cubicBezTo>
                  <a:pt x="92" y="112"/>
                  <a:pt x="97" y="125"/>
                  <a:pt x="97" y="142"/>
                </a:cubicBezTo>
                <a:cubicBezTo>
                  <a:pt x="97" y="155"/>
                  <a:pt x="92" y="166"/>
                  <a:pt x="84" y="175"/>
                </a:cubicBezTo>
                <a:cubicBezTo>
                  <a:pt x="75" y="185"/>
                  <a:pt x="63" y="189"/>
                  <a:pt x="48" y="19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9417600" y="3476880"/>
            <a:ext cx="120240" cy="198720"/>
          </a:xfrm>
          <a:custGeom>
            <a:avLst/>
            <a:gdLst/>
            <a:ahLst/>
            <a:rect l="0" t="0" r="r" b="b"/>
            <a:pathLst>
              <a:path w="334" h="552">
                <a:moveTo>
                  <a:pt x="68" y="162"/>
                </a:moveTo>
                <a:cubicBezTo>
                  <a:pt x="54" y="162"/>
                  <a:pt x="42" y="157"/>
                  <a:pt x="34" y="148"/>
                </a:cubicBezTo>
                <a:cubicBezTo>
                  <a:pt x="26" y="139"/>
                  <a:pt x="22" y="127"/>
                  <a:pt x="22" y="113"/>
                </a:cubicBezTo>
                <a:cubicBezTo>
                  <a:pt x="22" y="83"/>
                  <a:pt x="34" y="57"/>
                  <a:pt x="60" y="34"/>
                </a:cubicBezTo>
                <a:cubicBezTo>
                  <a:pt x="86" y="11"/>
                  <a:pt x="117" y="0"/>
                  <a:pt x="153" y="0"/>
                </a:cubicBezTo>
                <a:cubicBezTo>
                  <a:pt x="172" y="0"/>
                  <a:pt x="184" y="0"/>
                  <a:pt x="188" y="0"/>
                </a:cubicBezTo>
                <a:cubicBezTo>
                  <a:pt x="228" y="7"/>
                  <a:pt x="259" y="21"/>
                  <a:pt x="280" y="43"/>
                </a:cubicBezTo>
                <a:cubicBezTo>
                  <a:pt x="301" y="65"/>
                  <a:pt x="312" y="89"/>
                  <a:pt x="312" y="114"/>
                </a:cubicBezTo>
                <a:cubicBezTo>
                  <a:pt x="312" y="142"/>
                  <a:pt x="303" y="169"/>
                  <a:pt x="285" y="195"/>
                </a:cubicBezTo>
                <a:cubicBezTo>
                  <a:pt x="267" y="222"/>
                  <a:pt x="242" y="241"/>
                  <a:pt x="208" y="252"/>
                </a:cubicBezTo>
                <a:lnTo>
                  <a:pt x="206" y="254"/>
                </a:lnTo>
                <a:cubicBezTo>
                  <a:pt x="206" y="254"/>
                  <a:pt x="208" y="255"/>
                  <a:pt x="213" y="256"/>
                </a:cubicBezTo>
                <a:cubicBezTo>
                  <a:pt x="218" y="257"/>
                  <a:pt x="226" y="260"/>
                  <a:pt x="238" y="264"/>
                </a:cubicBezTo>
                <a:cubicBezTo>
                  <a:pt x="248" y="267"/>
                  <a:pt x="258" y="273"/>
                  <a:pt x="268" y="280"/>
                </a:cubicBezTo>
                <a:cubicBezTo>
                  <a:pt x="312" y="309"/>
                  <a:pt x="334" y="346"/>
                  <a:pt x="334" y="393"/>
                </a:cubicBezTo>
                <a:cubicBezTo>
                  <a:pt x="334" y="435"/>
                  <a:pt x="317" y="472"/>
                  <a:pt x="284" y="503"/>
                </a:cubicBezTo>
                <a:cubicBezTo>
                  <a:pt x="251" y="536"/>
                  <a:pt x="208" y="552"/>
                  <a:pt x="157" y="552"/>
                </a:cubicBezTo>
                <a:cubicBezTo>
                  <a:pt x="114" y="552"/>
                  <a:pt x="77" y="540"/>
                  <a:pt x="46" y="516"/>
                </a:cubicBezTo>
                <a:cubicBezTo>
                  <a:pt x="15" y="493"/>
                  <a:pt x="0" y="464"/>
                  <a:pt x="0" y="429"/>
                </a:cubicBezTo>
                <a:cubicBezTo>
                  <a:pt x="0" y="414"/>
                  <a:pt x="5" y="402"/>
                  <a:pt x="14" y="393"/>
                </a:cubicBezTo>
                <a:cubicBezTo>
                  <a:pt x="24" y="384"/>
                  <a:pt x="36" y="379"/>
                  <a:pt x="50" y="378"/>
                </a:cubicBezTo>
                <a:cubicBezTo>
                  <a:pt x="65" y="378"/>
                  <a:pt x="78" y="383"/>
                  <a:pt x="87" y="393"/>
                </a:cubicBezTo>
                <a:cubicBezTo>
                  <a:pt x="97" y="402"/>
                  <a:pt x="102" y="414"/>
                  <a:pt x="102" y="429"/>
                </a:cubicBezTo>
                <a:cubicBezTo>
                  <a:pt x="102" y="435"/>
                  <a:pt x="101" y="440"/>
                  <a:pt x="99" y="445"/>
                </a:cubicBezTo>
                <a:cubicBezTo>
                  <a:pt x="98" y="450"/>
                  <a:pt x="96" y="454"/>
                  <a:pt x="94" y="458"/>
                </a:cubicBezTo>
                <a:cubicBezTo>
                  <a:pt x="92" y="461"/>
                  <a:pt x="89" y="465"/>
                  <a:pt x="85" y="467"/>
                </a:cubicBezTo>
                <a:cubicBezTo>
                  <a:pt x="81" y="470"/>
                  <a:pt x="78" y="472"/>
                  <a:pt x="75" y="474"/>
                </a:cubicBezTo>
                <a:cubicBezTo>
                  <a:pt x="73" y="475"/>
                  <a:pt x="70" y="476"/>
                  <a:pt x="67" y="477"/>
                </a:cubicBezTo>
                <a:cubicBezTo>
                  <a:pt x="65" y="477"/>
                  <a:pt x="63" y="478"/>
                  <a:pt x="61" y="479"/>
                </a:cubicBezTo>
                <a:lnTo>
                  <a:pt x="58" y="480"/>
                </a:lnTo>
                <a:cubicBezTo>
                  <a:pt x="85" y="504"/>
                  <a:pt x="118" y="516"/>
                  <a:pt x="157" y="516"/>
                </a:cubicBezTo>
                <a:cubicBezTo>
                  <a:pt x="187" y="516"/>
                  <a:pt x="209" y="502"/>
                  <a:pt x="224" y="474"/>
                </a:cubicBezTo>
                <a:cubicBezTo>
                  <a:pt x="233" y="456"/>
                  <a:pt x="238" y="429"/>
                  <a:pt x="238" y="393"/>
                </a:cubicBezTo>
                <a:lnTo>
                  <a:pt x="238" y="377"/>
                </a:lnTo>
                <a:cubicBezTo>
                  <a:pt x="238" y="326"/>
                  <a:pt x="220" y="292"/>
                  <a:pt x="186" y="275"/>
                </a:cubicBezTo>
                <a:cubicBezTo>
                  <a:pt x="178" y="272"/>
                  <a:pt x="162" y="270"/>
                  <a:pt x="137" y="269"/>
                </a:cubicBezTo>
                <a:lnTo>
                  <a:pt x="103" y="268"/>
                </a:lnTo>
                <a:lnTo>
                  <a:pt x="101" y="267"/>
                </a:lnTo>
                <a:cubicBezTo>
                  <a:pt x="100" y="265"/>
                  <a:pt x="99" y="261"/>
                  <a:pt x="99" y="254"/>
                </a:cubicBezTo>
                <a:cubicBezTo>
                  <a:pt x="99" y="244"/>
                  <a:pt x="102" y="239"/>
                  <a:pt x="106" y="239"/>
                </a:cubicBezTo>
                <a:cubicBezTo>
                  <a:pt x="121" y="239"/>
                  <a:pt x="136" y="238"/>
                  <a:pt x="152" y="235"/>
                </a:cubicBezTo>
                <a:cubicBezTo>
                  <a:pt x="171" y="233"/>
                  <a:pt x="187" y="222"/>
                  <a:pt x="202" y="202"/>
                </a:cubicBezTo>
                <a:cubicBezTo>
                  <a:pt x="217" y="182"/>
                  <a:pt x="225" y="152"/>
                  <a:pt x="225" y="112"/>
                </a:cubicBezTo>
                <a:lnTo>
                  <a:pt x="225" y="106"/>
                </a:lnTo>
                <a:cubicBezTo>
                  <a:pt x="225" y="75"/>
                  <a:pt x="215" y="54"/>
                  <a:pt x="196" y="42"/>
                </a:cubicBezTo>
                <a:cubicBezTo>
                  <a:pt x="185" y="35"/>
                  <a:pt x="172" y="31"/>
                  <a:pt x="159" y="31"/>
                </a:cubicBezTo>
                <a:cubicBezTo>
                  <a:pt x="142" y="31"/>
                  <a:pt x="126" y="34"/>
                  <a:pt x="111" y="40"/>
                </a:cubicBezTo>
                <a:cubicBezTo>
                  <a:pt x="97" y="46"/>
                  <a:pt x="87" y="52"/>
                  <a:pt x="81" y="58"/>
                </a:cubicBezTo>
                <a:cubicBezTo>
                  <a:pt x="75" y="65"/>
                  <a:pt x="72" y="68"/>
                  <a:pt x="72" y="68"/>
                </a:cubicBezTo>
                <a:lnTo>
                  <a:pt x="75" y="68"/>
                </a:lnTo>
                <a:cubicBezTo>
                  <a:pt x="76" y="68"/>
                  <a:pt x="78" y="69"/>
                  <a:pt x="81" y="69"/>
                </a:cubicBezTo>
                <a:cubicBezTo>
                  <a:pt x="84" y="70"/>
                  <a:pt x="86" y="71"/>
                  <a:pt x="89" y="73"/>
                </a:cubicBezTo>
                <a:cubicBezTo>
                  <a:pt x="92" y="76"/>
                  <a:pt x="95" y="77"/>
                  <a:pt x="99" y="79"/>
                </a:cubicBezTo>
                <a:cubicBezTo>
                  <a:pt x="102" y="81"/>
                  <a:pt x="105" y="84"/>
                  <a:pt x="107" y="88"/>
                </a:cubicBezTo>
                <a:cubicBezTo>
                  <a:pt x="108" y="92"/>
                  <a:pt x="110" y="96"/>
                  <a:pt x="113" y="100"/>
                </a:cubicBezTo>
                <a:cubicBezTo>
                  <a:pt x="116" y="104"/>
                  <a:pt x="117" y="109"/>
                  <a:pt x="115" y="116"/>
                </a:cubicBezTo>
                <a:cubicBezTo>
                  <a:pt x="115" y="128"/>
                  <a:pt x="112" y="138"/>
                  <a:pt x="104" y="147"/>
                </a:cubicBezTo>
                <a:cubicBezTo>
                  <a:pt x="97" y="156"/>
                  <a:pt x="85" y="161"/>
                  <a:pt x="68" y="162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857160" y="3422160"/>
            <a:ext cx="81266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These comprehensive proxy records overwhelmingly verify that the year 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9545760" y="3422160"/>
            <a:ext cx="18997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 </a:t>
            </a:r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was conclusively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2995560" y="3838320"/>
            <a:ext cx="99720" cy="192600"/>
          </a:xfrm>
          <a:custGeom>
            <a:avLst/>
            <a:gdLst/>
            <a:ahLst/>
            <a:rect l="0" t="0" r="r" b="b"/>
            <a:pathLst>
              <a:path w="277" h="535">
                <a:moveTo>
                  <a:pt x="106" y="71"/>
                </a:moveTo>
                <a:lnTo>
                  <a:pt x="95" y="75"/>
                </a:lnTo>
                <a:cubicBezTo>
                  <a:pt x="88" y="77"/>
                  <a:pt x="77" y="80"/>
                  <a:pt x="62" y="83"/>
                </a:cubicBezTo>
                <a:cubicBezTo>
                  <a:pt x="48" y="85"/>
                  <a:pt x="33" y="87"/>
                  <a:pt x="16" y="88"/>
                </a:cubicBezTo>
                <a:lnTo>
                  <a:pt x="0" y="88"/>
                </a:lnTo>
                <a:lnTo>
                  <a:pt x="0" y="52"/>
                </a:lnTo>
                <a:lnTo>
                  <a:pt x="16" y="52"/>
                </a:lnTo>
                <a:cubicBezTo>
                  <a:pt x="41" y="50"/>
                  <a:pt x="64" y="46"/>
                  <a:pt x="86" y="39"/>
                </a:cubicBezTo>
                <a:cubicBezTo>
                  <a:pt x="108" y="33"/>
                  <a:pt x="123" y="26"/>
                  <a:pt x="131" y="20"/>
                </a:cubicBezTo>
                <a:cubicBezTo>
                  <a:pt x="140" y="14"/>
                  <a:pt x="147" y="8"/>
                  <a:pt x="154" y="3"/>
                </a:cubicBezTo>
                <a:cubicBezTo>
                  <a:pt x="155" y="1"/>
                  <a:pt x="158" y="0"/>
                  <a:pt x="163" y="0"/>
                </a:cubicBezTo>
                <a:cubicBezTo>
                  <a:pt x="168" y="0"/>
                  <a:pt x="173" y="2"/>
                  <a:pt x="177" y="5"/>
                </a:cubicBezTo>
                <a:lnTo>
                  <a:pt x="177" y="245"/>
                </a:lnTo>
                <a:lnTo>
                  <a:pt x="178" y="486"/>
                </a:lnTo>
                <a:cubicBezTo>
                  <a:pt x="182" y="490"/>
                  <a:pt x="185" y="492"/>
                  <a:pt x="187" y="494"/>
                </a:cubicBezTo>
                <a:cubicBezTo>
                  <a:pt x="190" y="495"/>
                  <a:pt x="197" y="496"/>
                  <a:pt x="207" y="497"/>
                </a:cubicBezTo>
                <a:cubicBezTo>
                  <a:pt x="217" y="498"/>
                  <a:pt x="233" y="498"/>
                  <a:pt x="256" y="498"/>
                </a:cubicBezTo>
                <a:lnTo>
                  <a:pt x="277" y="498"/>
                </a:lnTo>
                <a:lnTo>
                  <a:pt x="277" y="535"/>
                </a:lnTo>
                <a:lnTo>
                  <a:pt x="268" y="535"/>
                </a:lnTo>
                <a:cubicBezTo>
                  <a:pt x="257" y="534"/>
                  <a:pt x="215" y="533"/>
                  <a:pt x="141" y="533"/>
                </a:cubicBezTo>
                <a:cubicBezTo>
                  <a:pt x="68" y="533"/>
                  <a:pt x="25" y="534"/>
                  <a:pt x="14" y="535"/>
                </a:cubicBezTo>
                <a:lnTo>
                  <a:pt x="4" y="535"/>
                </a:lnTo>
                <a:lnTo>
                  <a:pt x="4" y="498"/>
                </a:lnTo>
                <a:lnTo>
                  <a:pt x="25" y="498"/>
                </a:lnTo>
                <a:cubicBezTo>
                  <a:pt x="37" y="498"/>
                  <a:pt x="47" y="498"/>
                  <a:pt x="56" y="498"/>
                </a:cubicBezTo>
                <a:cubicBezTo>
                  <a:pt x="64" y="498"/>
                  <a:pt x="72" y="498"/>
                  <a:pt x="77" y="498"/>
                </a:cubicBezTo>
                <a:cubicBezTo>
                  <a:pt x="82" y="497"/>
                  <a:pt x="86" y="496"/>
                  <a:pt x="90" y="495"/>
                </a:cubicBezTo>
                <a:cubicBezTo>
                  <a:pt x="93" y="494"/>
                  <a:pt x="96" y="494"/>
                  <a:pt x="96" y="494"/>
                </a:cubicBezTo>
                <a:cubicBezTo>
                  <a:pt x="97" y="494"/>
                  <a:pt x="98" y="492"/>
                  <a:pt x="101" y="490"/>
                </a:cubicBezTo>
                <a:cubicBezTo>
                  <a:pt x="104" y="487"/>
                  <a:pt x="105" y="486"/>
                  <a:pt x="106" y="486"/>
                </a:cubicBezTo>
                <a:lnTo>
                  <a:pt x="106" y="71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3130560" y="3838320"/>
            <a:ext cx="115560" cy="192600"/>
          </a:xfrm>
          <a:custGeom>
            <a:avLst/>
            <a:gdLst/>
            <a:ahLst/>
            <a:rect l="0" t="0" r="r" b="b"/>
            <a:pathLst>
              <a:path w="321" h="535">
                <a:moveTo>
                  <a:pt x="47" y="190"/>
                </a:moveTo>
                <a:cubicBezTo>
                  <a:pt x="33" y="190"/>
                  <a:pt x="21" y="185"/>
                  <a:pt x="13" y="176"/>
                </a:cubicBezTo>
                <a:cubicBezTo>
                  <a:pt x="4" y="166"/>
                  <a:pt x="0" y="154"/>
                  <a:pt x="0" y="141"/>
                </a:cubicBezTo>
                <a:cubicBezTo>
                  <a:pt x="0" y="103"/>
                  <a:pt x="14" y="70"/>
                  <a:pt x="42" y="42"/>
                </a:cubicBezTo>
                <a:cubicBezTo>
                  <a:pt x="71" y="14"/>
                  <a:pt x="107" y="0"/>
                  <a:pt x="149" y="0"/>
                </a:cubicBezTo>
                <a:cubicBezTo>
                  <a:pt x="198" y="0"/>
                  <a:pt x="239" y="15"/>
                  <a:pt x="271" y="45"/>
                </a:cubicBezTo>
                <a:cubicBezTo>
                  <a:pt x="304" y="75"/>
                  <a:pt x="320" y="114"/>
                  <a:pt x="321" y="161"/>
                </a:cubicBezTo>
                <a:cubicBezTo>
                  <a:pt x="321" y="184"/>
                  <a:pt x="315" y="206"/>
                  <a:pt x="305" y="227"/>
                </a:cubicBezTo>
                <a:cubicBezTo>
                  <a:pt x="294" y="248"/>
                  <a:pt x="281" y="266"/>
                  <a:pt x="266" y="282"/>
                </a:cubicBezTo>
                <a:cubicBezTo>
                  <a:pt x="251" y="298"/>
                  <a:pt x="230" y="318"/>
                  <a:pt x="202" y="342"/>
                </a:cubicBezTo>
                <a:cubicBezTo>
                  <a:pt x="183" y="359"/>
                  <a:pt x="156" y="383"/>
                  <a:pt x="122" y="416"/>
                </a:cubicBezTo>
                <a:lnTo>
                  <a:pt x="74" y="461"/>
                </a:lnTo>
                <a:lnTo>
                  <a:pt x="136" y="461"/>
                </a:lnTo>
                <a:cubicBezTo>
                  <a:pt x="220" y="461"/>
                  <a:pt x="264" y="460"/>
                  <a:pt x="270" y="457"/>
                </a:cubicBezTo>
                <a:cubicBezTo>
                  <a:pt x="273" y="456"/>
                  <a:pt x="280" y="433"/>
                  <a:pt x="289" y="386"/>
                </a:cubicBezTo>
                <a:lnTo>
                  <a:pt x="289" y="384"/>
                </a:lnTo>
                <a:lnTo>
                  <a:pt x="321" y="384"/>
                </a:lnTo>
                <a:lnTo>
                  <a:pt x="321" y="386"/>
                </a:lnTo>
                <a:cubicBezTo>
                  <a:pt x="320" y="388"/>
                  <a:pt x="317" y="412"/>
                  <a:pt x="310" y="459"/>
                </a:cubicBezTo>
                <a:cubicBezTo>
                  <a:pt x="304" y="506"/>
                  <a:pt x="300" y="531"/>
                  <a:pt x="298" y="533"/>
                </a:cubicBezTo>
                <a:lnTo>
                  <a:pt x="298" y="535"/>
                </a:lnTo>
                <a:lnTo>
                  <a:pt x="0" y="535"/>
                </a:lnTo>
                <a:lnTo>
                  <a:pt x="0" y="520"/>
                </a:lnTo>
                <a:lnTo>
                  <a:pt x="0" y="510"/>
                </a:lnTo>
                <a:cubicBezTo>
                  <a:pt x="0" y="507"/>
                  <a:pt x="1" y="503"/>
                  <a:pt x="5" y="498"/>
                </a:cubicBezTo>
                <a:cubicBezTo>
                  <a:pt x="8" y="494"/>
                  <a:pt x="16" y="485"/>
                  <a:pt x="29" y="470"/>
                </a:cubicBezTo>
                <a:cubicBezTo>
                  <a:pt x="44" y="453"/>
                  <a:pt x="58" y="438"/>
                  <a:pt x="69" y="425"/>
                </a:cubicBezTo>
                <a:cubicBezTo>
                  <a:pt x="74" y="420"/>
                  <a:pt x="84" y="410"/>
                  <a:pt x="97" y="396"/>
                </a:cubicBezTo>
                <a:cubicBezTo>
                  <a:pt x="110" y="381"/>
                  <a:pt x="120" y="371"/>
                  <a:pt x="124" y="366"/>
                </a:cubicBezTo>
                <a:cubicBezTo>
                  <a:pt x="129" y="361"/>
                  <a:pt x="137" y="352"/>
                  <a:pt x="148" y="340"/>
                </a:cubicBezTo>
                <a:cubicBezTo>
                  <a:pt x="158" y="327"/>
                  <a:pt x="166" y="318"/>
                  <a:pt x="170" y="312"/>
                </a:cubicBezTo>
                <a:cubicBezTo>
                  <a:pt x="174" y="306"/>
                  <a:pt x="181" y="298"/>
                  <a:pt x="189" y="288"/>
                </a:cubicBezTo>
                <a:cubicBezTo>
                  <a:pt x="197" y="277"/>
                  <a:pt x="202" y="269"/>
                  <a:pt x="205" y="262"/>
                </a:cubicBezTo>
                <a:cubicBezTo>
                  <a:pt x="209" y="255"/>
                  <a:pt x="213" y="247"/>
                  <a:pt x="217" y="238"/>
                </a:cubicBezTo>
                <a:cubicBezTo>
                  <a:pt x="222" y="230"/>
                  <a:pt x="226" y="221"/>
                  <a:pt x="228" y="213"/>
                </a:cubicBezTo>
                <a:cubicBezTo>
                  <a:pt x="230" y="204"/>
                  <a:pt x="232" y="196"/>
                  <a:pt x="233" y="189"/>
                </a:cubicBezTo>
                <a:cubicBezTo>
                  <a:pt x="235" y="181"/>
                  <a:pt x="236" y="172"/>
                  <a:pt x="236" y="162"/>
                </a:cubicBezTo>
                <a:cubicBezTo>
                  <a:pt x="236" y="128"/>
                  <a:pt x="227" y="99"/>
                  <a:pt x="209" y="75"/>
                </a:cubicBezTo>
                <a:cubicBezTo>
                  <a:pt x="190" y="50"/>
                  <a:pt x="164" y="38"/>
                  <a:pt x="131" y="38"/>
                </a:cubicBezTo>
                <a:cubicBezTo>
                  <a:pt x="113" y="38"/>
                  <a:pt x="98" y="42"/>
                  <a:pt x="84" y="52"/>
                </a:cubicBezTo>
                <a:cubicBezTo>
                  <a:pt x="70" y="61"/>
                  <a:pt x="61" y="69"/>
                  <a:pt x="55" y="78"/>
                </a:cubicBezTo>
                <a:cubicBezTo>
                  <a:pt x="50" y="87"/>
                  <a:pt x="47" y="92"/>
                  <a:pt x="47" y="93"/>
                </a:cubicBezTo>
                <a:cubicBezTo>
                  <a:pt x="47" y="94"/>
                  <a:pt x="49" y="94"/>
                  <a:pt x="51" y="94"/>
                </a:cubicBezTo>
                <a:cubicBezTo>
                  <a:pt x="61" y="94"/>
                  <a:pt x="71" y="98"/>
                  <a:pt x="82" y="105"/>
                </a:cubicBezTo>
                <a:cubicBezTo>
                  <a:pt x="92" y="113"/>
                  <a:pt x="97" y="125"/>
                  <a:pt x="97" y="142"/>
                </a:cubicBezTo>
                <a:cubicBezTo>
                  <a:pt x="97" y="155"/>
                  <a:pt x="93" y="167"/>
                  <a:pt x="84" y="176"/>
                </a:cubicBezTo>
                <a:cubicBezTo>
                  <a:pt x="75" y="185"/>
                  <a:pt x="63" y="190"/>
                  <a:pt x="47" y="19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3274920" y="3838320"/>
            <a:ext cx="115560" cy="199080"/>
          </a:xfrm>
          <a:custGeom>
            <a:avLst/>
            <a:gdLst/>
            <a:ahLst/>
            <a:rect l="0" t="0" r="r" b="b"/>
            <a:pathLst>
              <a:path w="321" h="553">
                <a:moveTo>
                  <a:pt x="91" y="409"/>
                </a:moveTo>
                <a:cubicBezTo>
                  <a:pt x="91" y="422"/>
                  <a:pt x="87" y="433"/>
                  <a:pt x="78" y="441"/>
                </a:cubicBezTo>
                <a:cubicBezTo>
                  <a:pt x="70" y="450"/>
                  <a:pt x="59" y="454"/>
                  <a:pt x="47" y="454"/>
                </a:cubicBezTo>
                <a:lnTo>
                  <a:pt x="42" y="454"/>
                </a:lnTo>
                <a:cubicBezTo>
                  <a:pt x="66" y="496"/>
                  <a:pt x="99" y="518"/>
                  <a:pt x="139" y="518"/>
                </a:cubicBezTo>
                <a:cubicBezTo>
                  <a:pt x="177" y="518"/>
                  <a:pt x="204" y="502"/>
                  <a:pt x="221" y="469"/>
                </a:cubicBezTo>
                <a:cubicBezTo>
                  <a:pt x="231" y="452"/>
                  <a:pt x="236" y="418"/>
                  <a:pt x="236" y="367"/>
                </a:cubicBezTo>
                <a:cubicBezTo>
                  <a:pt x="236" y="312"/>
                  <a:pt x="229" y="275"/>
                  <a:pt x="215" y="255"/>
                </a:cubicBezTo>
                <a:cubicBezTo>
                  <a:pt x="201" y="238"/>
                  <a:pt x="185" y="229"/>
                  <a:pt x="168" y="229"/>
                </a:cubicBezTo>
                <a:lnTo>
                  <a:pt x="163" y="229"/>
                </a:lnTo>
                <a:cubicBezTo>
                  <a:pt x="122" y="229"/>
                  <a:pt x="90" y="247"/>
                  <a:pt x="69" y="283"/>
                </a:cubicBezTo>
                <a:cubicBezTo>
                  <a:pt x="67" y="287"/>
                  <a:pt x="65" y="289"/>
                  <a:pt x="63" y="290"/>
                </a:cubicBezTo>
                <a:cubicBezTo>
                  <a:pt x="62" y="290"/>
                  <a:pt x="58" y="291"/>
                  <a:pt x="51" y="291"/>
                </a:cubicBezTo>
                <a:cubicBezTo>
                  <a:pt x="42" y="291"/>
                  <a:pt x="37" y="290"/>
                  <a:pt x="36" y="287"/>
                </a:cubicBezTo>
                <a:cubicBezTo>
                  <a:pt x="35" y="285"/>
                  <a:pt x="34" y="238"/>
                  <a:pt x="34" y="146"/>
                </a:cubicBezTo>
                <a:lnTo>
                  <a:pt x="34" y="42"/>
                </a:lnTo>
                <a:cubicBezTo>
                  <a:pt x="34" y="15"/>
                  <a:pt x="36" y="2"/>
                  <a:pt x="38" y="2"/>
                </a:cubicBezTo>
                <a:cubicBezTo>
                  <a:pt x="39" y="1"/>
                  <a:pt x="40" y="0"/>
                  <a:pt x="42" y="0"/>
                </a:cubicBezTo>
                <a:cubicBezTo>
                  <a:pt x="42" y="0"/>
                  <a:pt x="48" y="2"/>
                  <a:pt x="58" y="7"/>
                </a:cubicBezTo>
                <a:cubicBezTo>
                  <a:pt x="69" y="11"/>
                  <a:pt x="84" y="15"/>
                  <a:pt x="102" y="19"/>
                </a:cubicBezTo>
                <a:cubicBezTo>
                  <a:pt x="121" y="24"/>
                  <a:pt x="141" y="26"/>
                  <a:pt x="163" y="26"/>
                </a:cubicBezTo>
                <a:cubicBezTo>
                  <a:pt x="201" y="26"/>
                  <a:pt x="237" y="18"/>
                  <a:pt x="272" y="3"/>
                </a:cubicBezTo>
                <a:cubicBezTo>
                  <a:pt x="276" y="1"/>
                  <a:pt x="279" y="0"/>
                  <a:pt x="282" y="0"/>
                </a:cubicBezTo>
                <a:cubicBezTo>
                  <a:pt x="286" y="0"/>
                  <a:pt x="288" y="5"/>
                  <a:pt x="288" y="15"/>
                </a:cubicBezTo>
                <a:lnTo>
                  <a:pt x="288" y="25"/>
                </a:lnTo>
                <a:cubicBezTo>
                  <a:pt x="245" y="77"/>
                  <a:pt x="190" y="104"/>
                  <a:pt x="124" y="104"/>
                </a:cubicBezTo>
                <a:cubicBezTo>
                  <a:pt x="108" y="104"/>
                  <a:pt x="93" y="102"/>
                  <a:pt x="79" y="99"/>
                </a:cubicBezTo>
                <a:lnTo>
                  <a:pt x="71" y="97"/>
                </a:lnTo>
                <a:lnTo>
                  <a:pt x="71" y="235"/>
                </a:lnTo>
                <a:cubicBezTo>
                  <a:pt x="81" y="228"/>
                  <a:pt x="89" y="222"/>
                  <a:pt x="95" y="218"/>
                </a:cubicBezTo>
                <a:cubicBezTo>
                  <a:pt x="101" y="213"/>
                  <a:pt x="111" y="209"/>
                  <a:pt x="124" y="205"/>
                </a:cubicBezTo>
                <a:cubicBezTo>
                  <a:pt x="137" y="201"/>
                  <a:pt x="151" y="198"/>
                  <a:pt x="165" y="198"/>
                </a:cubicBezTo>
                <a:cubicBezTo>
                  <a:pt x="208" y="198"/>
                  <a:pt x="245" y="216"/>
                  <a:pt x="275" y="251"/>
                </a:cubicBezTo>
                <a:cubicBezTo>
                  <a:pt x="305" y="285"/>
                  <a:pt x="321" y="326"/>
                  <a:pt x="321" y="374"/>
                </a:cubicBezTo>
                <a:cubicBezTo>
                  <a:pt x="321" y="423"/>
                  <a:pt x="303" y="465"/>
                  <a:pt x="268" y="500"/>
                </a:cubicBezTo>
                <a:cubicBezTo>
                  <a:pt x="234" y="535"/>
                  <a:pt x="193" y="552"/>
                  <a:pt x="143" y="553"/>
                </a:cubicBezTo>
                <a:cubicBezTo>
                  <a:pt x="100" y="553"/>
                  <a:pt x="65" y="538"/>
                  <a:pt x="39" y="510"/>
                </a:cubicBezTo>
                <a:cubicBezTo>
                  <a:pt x="13" y="481"/>
                  <a:pt x="0" y="448"/>
                  <a:pt x="0" y="412"/>
                </a:cubicBezTo>
                <a:cubicBezTo>
                  <a:pt x="0" y="399"/>
                  <a:pt x="3" y="389"/>
                  <a:pt x="9" y="381"/>
                </a:cubicBezTo>
                <a:cubicBezTo>
                  <a:pt x="15" y="374"/>
                  <a:pt x="21" y="369"/>
                  <a:pt x="27" y="367"/>
                </a:cubicBezTo>
                <a:cubicBezTo>
                  <a:pt x="33" y="365"/>
                  <a:pt x="40" y="364"/>
                  <a:pt x="46" y="364"/>
                </a:cubicBezTo>
                <a:cubicBezTo>
                  <a:pt x="59" y="364"/>
                  <a:pt x="70" y="368"/>
                  <a:pt x="78" y="377"/>
                </a:cubicBezTo>
                <a:cubicBezTo>
                  <a:pt x="87" y="386"/>
                  <a:pt x="91" y="397"/>
                  <a:pt x="91" y="409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3427200" y="3995640"/>
            <a:ext cx="38520" cy="91440"/>
          </a:xfrm>
          <a:custGeom>
            <a:avLst/>
            <a:gdLst/>
            <a:ahLst/>
            <a:rect l="0" t="0" r="r" b="b"/>
            <a:pathLst>
              <a:path w="107" h="254">
                <a:moveTo>
                  <a:pt x="0" y="69"/>
                </a:moveTo>
                <a:cubicBezTo>
                  <a:pt x="0" y="69"/>
                  <a:pt x="0" y="62"/>
                  <a:pt x="0" y="49"/>
                </a:cubicBezTo>
                <a:cubicBezTo>
                  <a:pt x="0" y="36"/>
                  <a:pt x="4" y="24"/>
                  <a:pt x="13" y="15"/>
                </a:cubicBezTo>
                <a:cubicBezTo>
                  <a:pt x="22" y="5"/>
                  <a:pt x="33" y="0"/>
                  <a:pt x="47" y="0"/>
                </a:cubicBezTo>
                <a:cubicBezTo>
                  <a:pt x="62" y="0"/>
                  <a:pt x="76" y="7"/>
                  <a:pt x="89" y="20"/>
                </a:cubicBezTo>
                <a:cubicBezTo>
                  <a:pt x="100" y="34"/>
                  <a:pt x="106" y="57"/>
                  <a:pt x="107" y="91"/>
                </a:cubicBezTo>
                <a:cubicBezTo>
                  <a:pt x="107" y="110"/>
                  <a:pt x="105" y="129"/>
                  <a:pt x="100" y="146"/>
                </a:cubicBezTo>
                <a:cubicBezTo>
                  <a:pt x="95" y="164"/>
                  <a:pt x="89" y="179"/>
                  <a:pt x="82" y="192"/>
                </a:cubicBezTo>
                <a:cubicBezTo>
                  <a:pt x="76" y="205"/>
                  <a:pt x="69" y="216"/>
                  <a:pt x="61" y="225"/>
                </a:cubicBezTo>
                <a:cubicBezTo>
                  <a:pt x="54" y="234"/>
                  <a:pt x="47" y="241"/>
                  <a:pt x="42" y="247"/>
                </a:cubicBezTo>
                <a:cubicBezTo>
                  <a:pt x="37" y="252"/>
                  <a:pt x="33" y="254"/>
                  <a:pt x="31" y="254"/>
                </a:cubicBezTo>
                <a:cubicBezTo>
                  <a:pt x="29" y="254"/>
                  <a:pt x="26" y="251"/>
                  <a:pt x="21" y="247"/>
                </a:cubicBezTo>
                <a:cubicBezTo>
                  <a:pt x="16" y="242"/>
                  <a:pt x="14" y="238"/>
                  <a:pt x="14" y="236"/>
                </a:cubicBezTo>
                <a:cubicBezTo>
                  <a:pt x="14" y="234"/>
                  <a:pt x="17" y="230"/>
                  <a:pt x="23" y="223"/>
                </a:cubicBezTo>
                <a:cubicBezTo>
                  <a:pt x="29" y="217"/>
                  <a:pt x="35" y="209"/>
                  <a:pt x="43" y="199"/>
                </a:cubicBezTo>
                <a:cubicBezTo>
                  <a:pt x="50" y="190"/>
                  <a:pt x="57" y="176"/>
                  <a:pt x="64" y="159"/>
                </a:cubicBezTo>
                <a:cubicBezTo>
                  <a:pt x="70" y="142"/>
                  <a:pt x="74" y="123"/>
                  <a:pt x="76" y="100"/>
                </a:cubicBezTo>
                <a:lnTo>
                  <a:pt x="76" y="90"/>
                </a:lnTo>
                <a:lnTo>
                  <a:pt x="76" y="91"/>
                </a:lnTo>
                <a:cubicBezTo>
                  <a:pt x="74" y="91"/>
                  <a:pt x="73" y="92"/>
                  <a:pt x="72" y="92"/>
                </a:cubicBezTo>
                <a:cubicBezTo>
                  <a:pt x="70" y="93"/>
                  <a:pt x="68" y="94"/>
                  <a:pt x="67" y="95"/>
                </a:cubicBezTo>
                <a:cubicBezTo>
                  <a:pt x="65" y="96"/>
                  <a:pt x="63" y="96"/>
                  <a:pt x="60" y="96"/>
                </a:cubicBezTo>
                <a:cubicBezTo>
                  <a:pt x="56" y="96"/>
                  <a:pt x="53" y="97"/>
                  <a:pt x="50" y="97"/>
                </a:cubicBezTo>
                <a:cubicBezTo>
                  <a:pt x="35" y="97"/>
                  <a:pt x="24" y="93"/>
                  <a:pt x="15" y="84"/>
                </a:cubicBezTo>
                <a:lnTo>
                  <a:pt x="0" y="69"/>
                </a:ln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3544200" y="3838320"/>
            <a:ext cx="122040" cy="199080"/>
          </a:xfrm>
          <a:custGeom>
            <a:avLst/>
            <a:gdLst/>
            <a:ahLst/>
            <a:rect l="0" t="0" r="r" b="b"/>
            <a:pathLst>
              <a:path w="339" h="553">
                <a:moveTo>
                  <a:pt x="46" y="65"/>
                </a:moveTo>
                <a:cubicBezTo>
                  <a:pt x="76" y="22"/>
                  <a:pt x="118" y="0"/>
                  <a:pt x="170" y="0"/>
                </a:cubicBezTo>
                <a:cubicBezTo>
                  <a:pt x="196" y="0"/>
                  <a:pt x="221" y="7"/>
                  <a:pt x="247" y="21"/>
                </a:cubicBezTo>
                <a:cubicBezTo>
                  <a:pt x="272" y="35"/>
                  <a:pt x="293" y="60"/>
                  <a:pt x="309" y="96"/>
                </a:cubicBezTo>
                <a:cubicBezTo>
                  <a:pt x="329" y="140"/>
                  <a:pt x="339" y="201"/>
                  <a:pt x="339" y="279"/>
                </a:cubicBezTo>
                <a:cubicBezTo>
                  <a:pt x="339" y="361"/>
                  <a:pt x="328" y="425"/>
                  <a:pt x="305" y="469"/>
                </a:cubicBezTo>
                <a:cubicBezTo>
                  <a:pt x="294" y="491"/>
                  <a:pt x="279" y="509"/>
                  <a:pt x="260" y="522"/>
                </a:cubicBezTo>
                <a:cubicBezTo>
                  <a:pt x="242" y="536"/>
                  <a:pt x="225" y="544"/>
                  <a:pt x="212" y="547"/>
                </a:cubicBezTo>
                <a:cubicBezTo>
                  <a:pt x="198" y="550"/>
                  <a:pt x="184" y="552"/>
                  <a:pt x="171" y="553"/>
                </a:cubicBezTo>
                <a:cubicBezTo>
                  <a:pt x="157" y="553"/>
                  <a:pt x="143" y="551"/>
                  <a:pt x="129" y="548"/>
                </a:cubicBezTo>
                <a:cubicBezTo>
                  <a:pt x="115" y="545"/>
                  <a:pt x="99" y="536"/>
                  <a:pt x="79" y="522"/>
                </a:cubicBezTo>
                <a:cubicBezTo>
                  <a:pt x="60" y="508"/>
                  <a:pt x="46" y="491"/>
                  <a:pt x="35" y="469"/>
                </a:cubicBezTo>
                <a:cubicBezTo>
                  <a:pt x="12" y="425"/>
                  <a:pt x="0" y="361"/>
                  <a:pt x="0" y="279"/>
                </a:cubicBezTo>
                <a:cubicBezTo>
                  <a:pt x="0" y="186"/>
                  <a:pt x="16" y="115"/>
                  <a:pt x="46" y="65"/>
                </a:cubicBezTo>
                <a:moveTo>
                  <a:pt x="228" y="56"/>
                </a:moveTo>
                <a:cubicBezTo>
                  <a:pt x="212" y="38"/>
                  <a:pt x="193" y="30"/>
                  <a:pt x="171" y="30"/>
                </a:cubicBezTo>
                <a:cubicBezTo>
                  <a:pt x="148" y="30"/>
                  <a:pt x="129" y="38"/>
                  <a:pt x="113" y="56"/>
                </a:cubicBezTo>
                <a:cubicBezTo>
                  <a:pt x="100" y="69"/>
                  <a:pt x="90" y="90"/>
                  <a:pt x="85" y="114"/>
                </a:cubicBezTo>
                <a:cubicBezTo>
                  <a:pt x="81" y="139"/>
                  <a:pt x="79" y="190"/>
                  <a:pt x="79" y="268"/>
                </a:cubicBezTo>
                <a:cubicBezTo>
                  <a:pt x="79" y="353"/>
                  <a:pt x="81" y="408"/>
                  <a:pt x="85" y="435"/>
                </a:cubicBezTo>
                <a:cubicBezTo>
                  <a:pt x="90" y="462"/>
                  <a:pt x="100" y="483"/>
                  <a:pt x="115" y="498"/>
                </a:cubicBezTo>
                <a:cubicBezTo>
                  <a:pt x="130" y="514"/>
                  <a:pt x="149" y="522"/>
                  <a:pt x="171" y="522"/>
                </a:cubicBezTo>
                <a:cubicBezTo>
                  <a:pt x="192" y="522"/>
                  <a:pt x="210" y="514"/>
                  <a:pt x="225" y="498"/>
                </a:cubicBezTo>
                <a:cubicBezTo>
                  <a:pt x="241" y="482"/>
                  <a:pt x="250" y="460"/>
                  <a:pt x="254" y="431"/>
                </a:cubicBezTo>
                <a:cubicBezTo>
                  <a:pt x="258" y="402"/>
                  <a:pt x="260" y="348"/>
                  <a:pt x="260" y="268"/>
                </a:cubicBezTo>
                <a:cubicBezTo>
                  <a:pt x="260" y="191"/>
                  <a:pt x="258" y="140"/>
                  <a:pt x="254" y="115"/>
                </a:cubicBezTo>
                <a:cubicBezTo>
                  <a:pt x="250" y="90"/>
                  <a:pt x="241" y="70"/>
                  <a:pt x="228" y="5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3688560" y="3838320"/>
            <a:ext cx="122040" cy="199080"/>
          </a:xfrm>
          <a:custGeom>
            <a:avLst/>
            <a:gdLst/>
            <a:ahLst/>
            <a:rect l="0" t="0" r="r" b="b"/>
            <a:pathLst>
              <a:path w="339" h="553">
                <a:moveTo>
                  <a:pt x="47" y="65"/>
                </a:moveTo>
                <a:cubicBezTo>
                  <a:pt x="77" y="22"/>
                  <a:pt x="118" y="0"/>
                  <a:pt x="170" y="0"/>
                </a:cubicBezTo>
                <a:cubicBezTo>
                  <a:pt x="195" y="0"/>
                  <a:pt x="221" y="7"/>
                  <a:pt x="247" y="21"/>
                </a:cubicBezTo>
                <a:cubicBezTo>
                  <a:pt x="272" y="35"/>
                  <a:pt x="293" y="60"/>
                  <a:pt x="309" y="96"/>
                </a:cubicBezTo>
                <a:cubicBezTo>
                  <a:pt x="329" y="140"/>
                  <a:pt x="339" y="201"/>
                  <a:pt x="339" y="279"/>
                </a:cubicBezTo>
                <a:cubicBezTo>
                  <a:pt x="339" y="361"/>
                  <a:pt x="327" y="425"/>
                  <a:pt x="304" y="469"/>
                </a:cubicBezTo>
                <a:cubicBezTo>
                  <a:pt x="294" y="491"/>
                  <a:pt x="279" y="509"/>
                  <a:pt x="260" y="522"/>
                </a:cubicBezTo>
                <a:cubicBezTo>
                  <a:pt x="242" y="536"/>
                  <a:pt x="225" y="544"/>
                  <a:pt x="211" y="547"/>
                </a:cubicBezTo>
                <a:cubicBezTo>
                  <a:pt x="198" y="550"/>
                  <a:pt x="184" y="552"/>
                  <a:pt x="171" y="553"/>
                </a:cubicBezTo>
                <a:cubicBezTo>
                  <a:pt x="157" y="553"/>
                  <a:pt x="143" y="551"/>
                  <a:pt x="129" y="548"/>
                </a:cubicBezTo>
                <a:cubicBezTo>
                  <a:pt x="115" y="545"/>
                  <a:pt x="99" y="536"/>
                  <a:pt x="80" y="522"/>
                </a:cubicBezTo>
                <a:cubicBezTo>
                  <a:pt x="61" y="508"/>
                  <a:pt x="47" y="491"/>
                  <a:pt x="36" y="469"/>
                </a:cubicBezTo>
                <a:cubicBezTo>
                  <a:pt x="12" y="425"/>
                  <a:pt x="0" y="361"/>
                  <a:pt x="0" y="279"/>
                </a:cubicBezTo>
                <a:cubicBezTo>
                  <a:pt x="0" y="186"/>
                  <a:pt x="16" y="115"/>
                  <a:pt x="47" y="65"/>
                </a:cubicBezTo>
                <a:moveTo>
                  <a:pt x="227" y="56"/>
                </a:moveTo>
                <a:cubicBezTo>
                  <a:pt x="211" y="38"/>
                  <a:pt x="192" y="30"/>
                  <a:pt x="171" y="30"/>
                </a:cubicBezTo>
                <a:cubicBezTo>
                  <a:pt x="148" y="30"/>
                  <a:pt x="129" y="38"/>
                  <a:pt x="113" y="56"/>
                </a:cubicBezTo>
                <a:cubicBezTo>
                  <a:pt x="99" y="69"/>
                  <a:pt x="91" y="90"/>
                  <a:pt x="86" y="114"/>
                </a:cubicBezTo>
                <a:cubicBezTo>
                  <a:pt x="82" y="139"/>
                  <a:pt x="80" y="190"/>
                  <a:pt x="80" y="268"/>
                </a:cubicBezTo>
                <a:cubicBezTo>
                  <a:pt x="80" y="353"/>
                  <a:pt x="82" y="408"/>
                  <a:pt x="86" y="435"/>
                </a:cubicBezTo>
                <a:cubicBezTo>
                  <a:pt x="91" y="462"/>
                  <a:pt x="100" y="483"/>
                  <a:pt x="115" y="498"/>
                </a:cubicBezTo>
                <a:cubicBezTo>
                  <a:pt x="130" y="514"/>
                  <a:pt x="149" y="522"/>
                  <a:pt x="171" y="522"/>
                </a:cubicBezTo>
                <a:cubicBezTo>
                  <a:pt x="192" y="522"/>
                  <a:pt x="210" y="514"/>
                  <a:pt x="225" y="498"/>
                </a:cubicBezTo>
                <a:cubicBezTo>
                  <a:pt x="241" y="482"/>
                  <a:pt x="250" y="460"/>
                  <a:pt x="254" y="431"/>
                </a:cubicBezTo>
                <a:cubicBezTo>
                  <a:pt x="258" y="402"/>
                  <a:pt x="260" y="348"/>
                  <a:pt x="260" y="268"/>
                </a:cubicBezTo>
                <a:cubicBezTo>
                  <a:pt x="260" y="191"/>
                  <a:pt x="258" y="140"/>
                  <a:pt x="254" y="115"/>
                </a:cubicBezTo>
                <a:cubicBezTo>
                  <a:pt x="250" y="90"/>
                  <a:pt x="241" y="70"/>
                  <a:pt x="227" y="5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3832920" y="3838320"/>
            <a:ext cx="122040" cy="199080"/>
          </a:xfrm>
          <a:custGeom>
            <a:avLst/>
            <a:gdLst/>
            <a:ahLst/>
            <a:rect l="0" t="0" r="r" b="b"/>
            <a:pathLst>
              <a:path w="339" h="553">
                <a:moveTo>
                  <a:pt x="46" y="65"/>
                </a:moveTo>
                <a:cubicBezTo>
                  <a:pt x="76" y="22"/>
                  <a:pt x="117" y="0"/>
                  <a:pt x="169" y="0"/>
                </a:cubicBezTo>
                <a:cubicBezTo>
                  <a:pt x="194" y="0"/>
                  <a:pt x="220" y="7"/>
                  <a:pt x="246" y="21"/>
                </a:cubicBezTo>
                <a:cubicBezTo>
                  <a:pt x="271" y="35"/>
                  <a:pt x="292" y="60"/>
                  <a:pt x="309" y="96"/>
                </a:cubicBezTo>
                <a:cubicBezTo>
                  <a:pt x="329" y="140"/>
                  <a:pt x="339" y="201"/>
                  <a:pt x="339" y="279"/>
                </a:cubicBezTo>
                <a:cubicBezTo>
                  <a:pt x="339" y="361"/>
                  <a:pt x="327" y="425"/>
                  <a:pt x="303" y="469"/>
                </a:cubicBezTo>
                <a:cubicBezTo>
                  <a:pt x="293" y="491"/>
                  <a:pt x="278" y="509"/>
                  <a:pt x="259" y="522"/>
                </a:cubicBezTo>
                <a:cubicBezTo>
                  <a:pt x="241" y="536"/>
                  <a:pt x="224" y="544"/>
                  <a:pt x="210" y="547"/>
                </a:cubicBezTo>
                <a:cubicBezTo>
                  <a:pt x="196" y="550"/>
                  <a:pt x="183" y="552"/>
                  <a:pt x="169" y="553"/>
                </a:cubicBezTo>
                <a:cubicBezTo>
                  <a:pt x="156" y="553"/>
                  <a:pt x="142" y="551"/>
                  <a:pt x="128" y="548"/>
                </a:cubicBezTo>
                <a:cubicBezTo>
                  <a:pt x="114" y="545"/>
                  <a:pt x="98" y="536"/>
                  <a:pt x="79" y="522"/>
                </a:cubicBezTo>
                <a:cubicBezTo>
                  <a:pt x="60" y="508"/>
                  <a:pt x="45" y="491"/>
                  <a:pt x="35" y="469"/>
                </a:cubicBezTo>
                <a:cubicBezTo>
                  <a:pt x="12" y="425"/>
                  <a:pt x="0" y="361"/>
                  <a:pt x="0" y="279"/>
                </a:cubicBezTo>
                <a:cubicBezTo>
                  <a:pt x="0" y="186"/>
                  <a:pt x="16" y="115"/>
                  <a:pt x="46" y="65"/>
                </a:cubicBezTo>
                <a:moveTo>
                  <a:pt x="226" y="56"/>
                </a:moveTo>
                <a:cubicBezTo>
                  <a:pt x="210" y="38"/>
                  <a:pt x="191" y="30"/>
                  <a:pt x="169" y="30"/>
                </a:cubicBezTo>
                <a:cubicBezTo>
                  <a:pt x="147" y="30"/>
                  <a:pt x="128" y="38"/>
                  <a:pt x="112" y="56"/>
                </a:cubicBezTo>
                <a:cubicBezTo>
                  <a:pt x="98" y="69"/>
                  <a:pt x="90" y="90"/>
                  <a:pt x="85" y="114"/>
                </a:cubicBezTo>
                <a:cubicBezTo>
                  <a:pt x="81" y="139"/>
                  <a:pt x="79" y="190"/>
                  <a:pt x="79" y="268"/>
                </a:cubicBezTo>
                <a:cubicBezTo>
                  <a:pt x="79" y="353"/>
                  <a:pt x="81" y="408"/>
                  <a:pt x="85" y="435"/>
                </a:cubicBezTo>
                <a:cubicBezTo>
                  <a:pt x="90" y="462"/>
                  <a:pt x="99" y="483"/>
                  <a:pt x="114" y="498"/>
                </a:cubicBezTo>
                <a:cubicBezTo>
                  <a:pt x="129" y="514"/>
                  <a:pt x="148" y="522"/>
                  <a:pt x="169" y="522"/>
                </a:cubicBezTo>
                <a:cubicBezTo>
                  <a:pt x="191" y="522"/>
                  <a:pt x="209" y="514"/>
                  <a:pt x="224" y="498"/>
                </a:cubicBezTo>
                <a:cubicBezTo>
                  <a:pt x="240" y="482"/>
                  <a:pt x="249" y="460"/>
                  <a:pt x="253" y="431"/>
                </a:cubicBezTo>
                <a:cubicBezTo>
                  <a:pt x="257" y="402"/>
                  <a:pt x="259" y="348"/>
                  <a:pt x="259" y="268"/>
                </a:cubicBezTo>
                <a:cubicBezTo>
                  <a:pt x="259" y="191"/>
                  <a:pt x="257" y="140"/>
                  <a:pt x="253" y="115"/>
                </a:cubicBezTo>
                <a:cubicBezTo>
                  <a:pt x="249" y="90"/>
                  <a:pt x="240" y="70"/>
                  <a:pt x="226" y="56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6" name=""/>
          <p:cNvSpPr txBox="1"/>
          <p:nvPr/>
        </p:nvSpPr>
        <p:spPr>
          <a:xfrm>
            <a:off x="857160" y="3774600"/>
            <a:ext cx="211284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the hottest in over 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618840" y="43146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6"/>
                </a:cubicBezTo>
                <a:cubicBezTo>
                  <a:pt x="224" y="180"/>
                  <a:pt x="216" y="193"/>
                  <a:pt x="205" y="204"/>
                </a:cubicBezTo>
                <a:cubicBezTo>
                  <a:pt x="193" y="216"/>
                  <a:pt x="181" y="224"/>
                  <a:pt x="166" y="230"/>
                </a:cubicBezTo>
                <a:cubicBezTo>
                  <a:pt x="151" y="236"/>
                  <a:pt x="136" y="239"/>
                  <a:pt x="120" y="239"/>
                </a:cubicBezTo>
                <a:cubicBezTo>
                  <a:pt x="105" y="239"/>
                  <a:pt x="89" y="236"/>
                  <a:pt x="75" y="230"/>
                </a:cubicBezTo>
                <a:cubicBezTo>
                  <a:pt x="59" y="224"/>
                  <a:pt x="46" y="216"/>
                  <a:pt x="35" y="204"/>
                </a:cubicBezTo>
                <a:cubicBezTo>
                  <a:pt x="24" y="193"/>
                  <a:pt x="15" y="180"/>
                  <a:pt x="9" y="166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5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5"/>
                  <a:pt x="75" y="9"/>
                </a:cubicBezTo>
                <a:cubicBezTo>
                  <a:pt x="89" y="3"/>
                  <a:pt x="105" y="0"/>
                  <a:pt x="120" y="0"/>
                </a:cubicBezTo>
                <a:cubicBezTo>
                  <a:pt x="136" y="0"/>
                  <a:pt x="151" y="3"/>
                  <a:pt x="166" y="9"/>
                </a:cubicBezTo>
                <a:cubicBezTo>
                  <a:pt x="181" y="15"/>
                  <a:pt x="193" y="24"/>
                  <a:pt x="205" y="36"/>
                </a:cubicBezTo>
                <a:cubicBezTo>
                  <a:pt x="216" y="47"/>
                  <a:pt x="224" y="60"/>
                  <a:pt x="230" y="75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1f2328"/>
          </a:solidFill>
          <a:ln w="0">
            <a:noFill/>
          </a:ln>
        </p:spPr>
        <p:txBody>
          <a:bodyPr lIns="0" rIns="0" tIns="0" bIns="0" anchor="t">
            <a:noAutofit/>
          </a:bodyPr>
          <a:p>
            <a:endParaRPr b="0" lang="en-US" sz="2400" spc="-1" strike="noStrike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3966120" y="3774600"/>
            <a:ext cx="72936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 </a:t>
            </a:r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years.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857160" y="4193640"/>
            <a:ext cx="100105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Such unprecedented macro-level shifts highlight systemic alterations in long-term climate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857160" y="4546080"/>
            <a:ext cx="5188320" cy="325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70" spc="-1" strike="noStrike">
                <a:solidFill>
                  <a:srgbClr val="1f2328"/>
                </a:solidFill>
                <a:latin typeface="NotoSans"/>
                <a:ea typeface="NotoSans"/>
              </a:rPr>
              <a:t>dynamics rather than random weather events.</a:t>
            </a:r>
            <a:endParaRPr b="0" lang="en-US" sz="187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1775600" y="6327720"/>
            <a:ext cx="228240" cy="311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US" sz="1800" spc="-1" strike="noStrike">
                <a:solidFill>
                  <a:srgbClr val="777777"/>
                </a:solidFill>
                <a:latin typeface="NotoSans"/>
                <a:ea typeface="NotoSans"/>
              </a:rPr>
              <a:t>5</a:t>
            </a:r>
            <a:endParaRPr b="0" lang="en-US" sz="18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LibreOffice/7.4.7.2$Linux_AARCH64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