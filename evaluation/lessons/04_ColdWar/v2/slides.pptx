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12"/>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40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0AC4E2-4DCE-0483-2C48-4B4E7FBF87EC}" v="391" dt="2026-04-12T09:50:21.0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origins of the Cold War. Following World War II, the fragile alliance between the United States and the Soviet Union quickly dissolved, replaced by a deep ideological divide. We will explore how these two superpowers offered completely opposite blueprints for how society, economics, and government should function. This wasn't merely a political disagreement; it was a fundamental clash over human freedom and collective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truly understand the Cold War, we must define the two competing systems at its core. Democratic capitalism, championed by the US, emphasizes free markets, private property, and individual rights. In stark contrast, authoritarian communism, pushed by the USSR, relies on complete state control of the economy to enforce collective equality. One system prioritizes individual liberty and opportunity, while the other prioritizes collective outcome under strict government direction.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use a mental model to simplify this: imagine a massive classroom group project. In System A, representing capitalism, you choose your own role, work independently, and get a grade based entirely on your personal effort. In System B, representing communism, the teacher assigns your role based on the group's needs, and everyone receives the exact same shared grade. Note what these are NOT: neither system is absolute anarchy; they just use fundamentally opposite incentive structures to motivate people.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these deeply opposed ideological blueprints, you can begin to see why their post-WWII cooperation was doomed to fail. Their alliance during the war was purely a marriage of convenience to defeat Nazi Germany. Once that common enemy was eliminated, their respective visions for rebuilding the world could not coexist. The United States needed open global markets to fuel its capitalist economy, while the Soviet Union demanded secure borders and ideological conformity to protect its vulnerable state.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exploration of the Cold War's foundational conflict. Following the end of World War II, the temporary alliance of convenience between the United States and the Soviet Union quickly dissolved. In its place emerged a fierce global rivalry driven by two entirely incompatible visions for how society should function. This stark ideological divide would dictate global politics, economics, and warfare for nearly half a century.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break down these two opposing structural models. On one side, the United States championed democratic capitalism, where private citizens owned businesses and individuals voted in multi-party elections. On the other side, the Soviet Union operated under authoritarian communism, where the government owned all factories and farms to enforce collective equality. This meant a multi-party democracy was pitted directly against single-party rule, and a free market against a state-commanded economy.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truly understand these systems, it helps to identify what they are not. Democratic capitalism does not guarantee equal wealth for everyone; it focuses heavily on providing the opportunity to compete. Conversely, authoritarian communism is not concerned with individual consumer choices or personal liberty; it strictly prioritizes the survival and economic equality of the collective state. Because their foundational definitions of freedom and justice were exact opposites, maintaining any kind of post-war partnership became virtually impossible.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think of war, we usually picture armies fighting over land, resources, or borders. The Cold War was fundamentally different. It was a total clash of worldviews between democratic capitalism and authoritarian communism. Understanding this ideological divide is crucial to seeing why the conflict lasted for decades without direct military confrontation between the superpowers.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misconception is that any government program, like building roads or funding public schools, is a form of communism. This is entirely false. Democracies and capitalist economies rely heavily on public services funded by taxes. We must separate standard government functions from the total ideological control demanded by the Soviet system.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truly define Soviet communism, we have to look at its absolute requirements. It demanded the complete elimination of private property, meaning individuals could not own businesses or land. It eradicated free markets, replacing them with a centrally planned economy where the state dictated all production. Finally, it required strict authoritarianism by outlawing any opposing political parties.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core tenets of the US and USSR were exact opposites, there was no middle ground. The survival of one system was perceived as an existential threat to the other. This absolute divide is what turned regional disputes into global crises, as every geopolitical move was filtered through this zero-sum ideological lens.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Between 1941 and 1945, the United States and the Soviet Union formed a crucial alliance to defeat Nazi Germany. However, this was purely a marriage of convenience, not a partnership built on shared values. They were united by a shared, existential threat, proving that sometimes 'the enemy of my enemy is my friend.'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World War II ended in 1945, the glue holding the US-Soviet alliance together dissolved. Without a common enemy to unite them, the strategic partnership instantly collapsed. They were left facing each other in a power vacuum, with radically different plans for how to rebuild a devastated Europe.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important to remember what this alliance was not: it was never a sign of long-term friendship or mutual trust. The foundational ideologies of democratic capitalism and authoritarian communism were completely incompatible in their goals for human society. Without a shared enemy to force them to the same table, these deep ideological differences made peaceful cooperation impossible and the Cold War inevitable.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test our understanding of the two major ideologies we just discussed. Imagine a newly formed nation right after World War II. To eliminate poverty, this nation's leaders decide the government must own all banks, set all prices, and assign jobs to every citizen. Read through these actions carefully and think about the core principles driving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ask yourself: does this scenario align more closely with the ideology of the United States or the Soviet Union? Remember, the United States championed democratic capitalism, focusing on free markets, private property, and individual liberty. In contrast, the Soviet Union operated under authoritarian communism, where the state controlled all resources to enforce collective equality. Which of these systems matches a government completely taking over banks and dictating prices?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correct answer is the Soviet Union, representing authoritarian communism. When a government completely takes over private banks, sets prices, and assigns jobs, it is exercising absolute state control over the economy. A strict non-example of this would be free-market capitalism, where prices naturally fluctuate based on supply and demand without heavy government interference. This fundamental ideological difference in economic control is exactly what made post-WWII cooperation between the US and USSR virtually impossible.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5" name="PlaceHolder 2"/>
          <p:cNvSpPr>
            <a:spLocks noGrp="1"/>
          </p:cNvSpPr>
          <p:nvPr>
            <p:ph/>
          </p:nvPr>
        </p:nvSpPr>
        <p:spPr>
          <a:xfrm>
            <a:off x="609480" y="1520280"/>
            <a:ext cx="109720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8"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59200"/>
            <a:ext cx="10972080" cy="502920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4"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6" name="PlaceHolder 2"/>
          <p:cNvSpPr>
            <a:spLocks noGrp="1"/>
          </p:cNvSpPr>
          <p:nvPr>
            <p:ph/>
          </p:nvPr>
        </p:nvSpPr>
        <p:spPr>
          <a:xfrm>
            <a:off x="609480" y="1520280"/>
            <a:ext cx="5354280" cy="3768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7"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4"/>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0"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1"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4"/>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4" name="PlaceHolder 2"/>
          <p:cNvSpPr>
            <a:spLocks noGrp="1"/>
          </p:cNvSpPr>
          <p:nvPr>
            <p:ph/>
          </p:nvPr>
        </p:nvSpPr>
        <p:spPr>
          <a:xfrm>
            <a:off x="609480" y="152028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5" name="PlaceHolder 3"/>
          <p:cNvSpPr>
            <a:spLocks noGrp="1"/>
          </p:cNvSpPr>
          <p:nvPr>
            <p:ph/>
          </p:nvPr>
        </p:nvSpPr>
        <p:spPr>
          <a:xfrm>
            <a:off x="609480" y="3488760"/>
            <a:ext cx="109720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7" name="PlaceHolder 2"/>
          <p:cNvSpPr>
            <a:spLocks noGrp="1"/>
          </p:cNvSpPr>
          <p:nvPr>
            <p:ph/>
          </p:nvPr>
        </p:nvSpPr>
        <p:spPr>
          <a:xfrm>
            <a:off x="60948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8" name="PlaceHolder 3"/>
          <p:cNvSpPr>
            <a:spLocks noGrp="1"/>
          </p:cNvSpPr>
          <p:nvPr>
            <p:ph/>
          </p:nvPr>
        </p:nvSpPr>
        <p:spPr>
          <a:xfrm>
            <a:off x="6231960" y="152028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9" name="PlaceHolder 4"/>
          <p:cNvSpPr>
            <a:spLocks noGrp="1"/>
          </p:cNvSpPr>
          <p:nvPr>
            <p:ph/>
          </p:nvPr>
        </p:nvSpPr>
        <p:spPr>
          <a:xfrm>
            <a:off x="60948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5"/>
          <p:cNvSpPr>
            <a:spLocks noGrp="1"/>
          </p:cNvSpPr>
          <p:nvPr>
            <p:ph/>
          </p:nvPr>
        </p:nvSpPr>
        <p:spPr>
          <a:xfrm>
            <a:off x="6231960" y="3488760"/>
            <a:ext cx="53542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431928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8028720" y="152028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094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6" name="PlaceHolder 6"/>
          <p:cNvSpPr>
            <a:spLocks noGrp="1"/>
          </p:cNvSpPr>
          <p:nvPr>
            <p:ph/>
          </p:nvPr>
        </p:nvSpPr>
        <p:spPr>
          <a:xfrm>
            <a:off x="431928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7" name="PlaceHolder 7"/>
          <p:cNvSpPr>
            <a:spLocks noGrp="1"/>
          </p:cNvSpPr>
          <p:nvPr>
            <p:ph/>
          </p:nvPr>
        </p:nvSpPr>
        <p:spPr>
          <a:xfrm>
            <a:off x="8028720" y="3488760"/>
            <a:ext cx="3532680" cy="17974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520280"/>
            <a:ext cx="10972080" cy="37684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Core Divide: Capitalism vs. Communism</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Two opposing blueprints for society emerged post-WWII.</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United States championed Democratic Capitalism.</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Soviet Union enforced Authoritarian Communism.</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Ideological clash replaced a fragile wartime alliance.</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post-WWII world fractured into two distinct ideological blueprints: individual enterprise versus state-directed collective action.</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Capitalism: Free markets and individual property rights.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Communism: State control and collective ownership.</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Democracy emphasizes personal liberty and voting.</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Authoritarianism mandates strict obedience to the state.</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Defining the Systems: Individual vs. State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Capitalism relies on private ownership, competition, and individual choice.</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Communism relies on total state control to enforce collective equality and resource distribution.</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System A (Capitalism): Choose roles, earn individual grades.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System B (Communism): Assigned roles, earn shared grades.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Non-example: Neither system is a chaotic free-for-all.</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Both aim for societal success using opposite motivations.</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Mental Model: The Group Project Analogy</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System A: Individual effort leads to distinct, individualized rewards.</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System B: Assigned roles result in an equal, collective reward regardless of individual effort.</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WWII alliance was purely strategic against a common enemy.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Post-war rebuilding goals were inherently incompatible.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US sought open global markets for economic growth.</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USSR sought secure buffer zones and ideological conformity.</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Inevitable Clash Post-WWII</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Post-WWII Ideological Divide</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WWII alliance between US and USSR ends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Two rival global superpowers emerge</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Fundamentally incompatible societal models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post-WWII world was immediately split into two fundamentally opposing ideological spheres.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US: Free markets and private ownership</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US: Multi-party elections and individual rights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USSR: State-owned economy and agriculture</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USSR: Single-party rule for collective equality</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Contrasting Systems: US vs. USSR</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Democratic Capitalism: Emphasizing private ownership, free markets, and individual rights.</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Authoritarian Communism: Emphasizing state control, collective labor, and strict political uniformity.</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Capitalism does NOT guarantee equal wealth</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Communism does NOT value individual consumer choice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Core values were exact opposites</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Post-war diplomatic partnership became impossible</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Why Cooperation Failed</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Not Just a War for Territory</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Traditional wars fight for land or resources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The Cold War was a clash of absolute worldviews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 fundamental struggle between two incompatible systems</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Cold War was an ideological struggle for the future of global society, not just a fight over physical borders.</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Basic public services $\neq$ Communism</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Roads, schools, and fire departments exist in capitalism</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Public goods are funded by taxes, not total state control</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Clearing Misconceptions: What Communism is NOT</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Public services like schools are standard functions of government, not 'communism'.</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Soviet communism requires state ownership of all production, not just basic public goods.</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3D9608A7-3AD4-A88E-E23F-456EF2618D6F}"/>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Elimination of private property</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Abolition of free market economics</a:t>
            </a:r>
            <a:endParaRPr lang="en-US" sz="2400">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Eradication of opposing political parties</a:t>
            </a:r>
            <a:endParaRPr lang="en-US" sz="2400">
              <a:latin typeface="Segoe UI"/>
              <a:cs typeface="Segoe UI"/>
            </a:endParaRPr>
          </a:p>
        </p:txBody>
      </p:sp>
      <p:sp>
        <p:nvSpPr>
          <p:cNvPr id="5" name="Title 1">
            <a:extLst>
              <a:ext uri="{FF2B5EF4-FFF2-40B4-BE49-F238E27FC236}">
                <a16:creationId xmlns:a16="http://schemas.microsoft.com/office/drawing/2014/main" id="{5D519908-5F96-7112-2FDB-F697BE059F9F}"/>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Core Traits of Soviet Communism</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61B20E10-01B1-122B-DF00-C192842DC3E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14" name="TextBox 13">
            <a:extLst>
              <a:ext uri="{FF2B5EF4-FFF2-40B4-BE49-F238E27FC236}">
                <a16:creationId xmlns:a16="http://schemas.microsoft.com/office/drawing/2014/main" id="{5099EB0D-E920-1FE4-5F6E-07F1DE49DE04}"/>
              </a:ext>
            </a:extLst>
          </p:cNvPr>
          <p:cNvSpPr txBox="1"/>
          <p:nvPr/>
        </p:nvSpPr>
        <p:spPr>
          <a:xfrm>
            <a:off x="512620"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Private ownership was abolished and replaced by collective state ownership.</a:t>
            </a:r>
            <a:endParaRPr lang="en-US" sz="1400">
              <a:latin typeface="Segoe UI"/>
              <a:ea typeface="+mn-lt"/>
              <a:cs typeface="Segoe UI"/>
            </a:endParaRPr>
          </a:p>
        </p:txBody>
      </p:sp>
      <p:sp>
        <p:nvSpPr>
          <p:cNvPr id="19" name="TextBox 18">
            <a:extLst>
              <a:ext uri="{FF2B5EF4-FFF2-40B4-BE49-F238E27FC236}">
                <a16:creationId xmlns:a16="http://schemas.microsoft.com/office/drawing/2014/main" id="{75A24BCE-19C5-DFFC-487C-DBBB780BC341}"/>
              </a:ext>
            </a:extLst>
          </p:cNvPr>
          <p:cNvSpPr txBox="1"/>
          <p:nvPr/>
        </p:nvSpPr>
        <p:spPr>
          <a:xfrm>
            <a:off x="4440383" y="5728855"/>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Prices and production were dictated by the government, not supply and demand.</a:t>
            </a:r>
            <a:endParaRPr lang="en-US" sz="1400">
              <a:latin typeface="Segoe UI"/>
              <a:ea typeface="+mn-lt"/>
              <a:cs typeface="Segoe UI"/>
            </a:endParaRPr>
          </a:p>
        </p:txBody>
      </p:sp>
      <p:sp>
        <p:nvSpPr>
          <p:cNvPr id="20" name="TextBox 19">
            <a:extLst>
              <a:ext uri="{FF2B5EF4-FFF2-40B4-BE49-F238E27FC236}">
                <a16:creationId xmlns:a16="http://schemas.microsoft.com/office/drawing/2014/main" id="{3C2C794C-822F-BF1C-17BF-5B78408BF3B7}"/>
              </a:ext>
            </a:extLst>
          </p:cNvPr>
          <p:cNvSpPr txBox="1"/>
          <p:nvPr/>
        </p:nvSpPr>
        <p:spPr>
          <a:xfrm>
            <a:off x="8368147" y="5728856"/>
            <a:ext cx="3311234"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Political opposition was banned, ensuring a single-party authoritarian rule.</a:t>
            </a:r>
            <a:endParaRPr lang="en-US" sz="1400">
              <a:latin typeface="Segoe UI"/>
              <a:ea typeface="+mn-lt"/>
              <a:cs typeface="Segoe UI"/>
            </a:endParaRPr>
          </a:p>
        </p:txBody>
      </p:sp>
      <p:pic>
        <p:nvPicPr>
          <p:cNvPr id="21" name="Picture 20" descr="image.png"/>
          <p:cNvPicPr>
            <a:picLocks noChangeAspect="1"/>
          </p:cNvPicPr>
          <p:nvPr/>
        </p:nvPicPr>
        <p:blipFill>
          <a:blip r:embed="rId3"/>
          <a:stretch>
            <a:fillRect/>
          </a:stretch>
        </p:blipFill>
        <p:spPr>
          <a:xfrm>
            <a:off x="611302" y="2968277"/>
            <a:ext cx="3118628" cy="2679223"/>
          </a:xfrm>
          <a:prstGeom prst="rect">
            <a:avLst/>
          </a:prstGeom>
        </p:spPr>
      </p:pic>
      <p:pic>
        <p:nvPicPr>
          <p:cNvPr id="22" name="Picture 21" descr="image.png"/>
          <p:cNvPicPr>
            <a:picLocks noChangeAspect="1"/>
          </p:cNvPicPr>
          <p:nvPr/>
        </p:nvPicPr>
        <p:blipFill>
          <a:blip r:embed="rId4"/>
          <a:stretch>
            <a:fillRect/>
          </a:stretch>
        </p:blipFill>
        <p:spPr>
          <a:xfrm>
            <a:off x="4539065" y="2968276"/>
            <a:ext cx="3118628" cy="2679223"/>
          </a:xfrm>
          <a:prstGeom prst="rect">
            <a:avLst/>
          </a:prstGeom>
        </p:spPr>
      </p:pic>
      <p:pic>
        <p:nvPicPr>
          <p:cNvPr id="23" name="Picture 22" descr="image.png"/>
          <p:cNvPicPr>
            <a:picLocks noChangeAspect="1"/>
          </p:cNvPicPr>
          <p:nvPr/>
        </p:nvPicPr>
        <p:blipFill>
          <a:blip r:embed="rId5"/>
          <a:stretch>
            <a:fillRect/>
          </a:stretch>
        </p:blipFill>
        <p:spPr>
          <a:xfrm>
            <a:off x="8466829" y="2968277"/>
            <a:ext cx="3118628" cy="267922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Worldviews were structurally incompatible</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Ideology drove global geopolitical strategy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A zero-sum game: one side's gain is the other's loss</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An Absolute Divide</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WWII Alliance: A Temporary Truce</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Allied from 1941 to 1945 against Nazi Germany</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United strictly by a shared enemy, not shared values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Functioned as a strategic 'marriage of convenience'</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pic>
        <p:nvPicPr>
          <p:cNvPr id="7" name="Picture 6" descr="A colorful circle with arrows and people around it&#10;&#10;AI-generated content may be incorrect.">
            <a:extLst>
              <a:ext uri="{FF2B5EF4-FFF2-40B4-BE49-F238E27FC236}">
                <a16:creationId xmlns:a16="http://schemas.microsoft.com/office/drawing/2014/main" id="{56EE1646-4C34-C522-8499-796872E8EC8B}"/>
              </a:ext>
            </a:extLst>
          </p:cNvPr>
          <p:cNvPicPr/>
          <p:nvPr/>
        </p:nvPicPr>
        <p:blipFill>
          <a:blip r:embed="rId2"/>
          <a:stretch/>
        </p:blipFill>
        <p:spPr>
          <a:xfrm>
            <a:off x="3095640" y="2786465"/>
            <a:ext cx="6000480" cy="3428640"/>
          </a:xfrm>
          <a:prstGeom prst="rect">
            <a:avLst/>
          </a:prstGeom>
          <a:ln w="0">
            <a:noFill/>
          </a:ln>
        </p:spPr>
      </p:pic>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Empathize phase involves conducting research to understand users' experiences, needs, and pain points.</a:t>
            </a:r>
            <a:endParaRPr lang="en-US" sz="1400">
              <a:latin typeface="Segoe UI"/>
              <a:ea typeface="+mn-lt"/>
              <a:cs typeface="Segoe UI"/>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Defeat of Germany removed the shared threat</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Alliance instantly collapsed without a common enemy</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Clashing visions for post-war reconstruction emerged</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Sudden Pivot (1945)</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The US vision prioritized free markets and individual rights for rebuilding Europe.</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The Soviet vision prioritized state control and collective equality.</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Non-example: The WWII alliance was never a true friendship</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Fundamentally incompatible visions for society and economy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Democratic capitalism vs. authoritarian communism</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Ideological differences made the Cold War inevitable</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Why Cooperation Failed</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503A6925-249D-5FCC-000F-543D8D8D2FF3}"/>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Knowledge Check: Identifying the Ideology</a:t>
            </a:r>
            <a:endParaRPr lang="en-US" sz="2800">
              <a:solidFill>
                <a:srgbClr val="000000"/>
              </a:solidFill>
              <a:latin typeface="Segoe UI"/>
              <a:ea typeface="+mj-lt"/>
              <a:cs typeface="Segoe UI"/>
            </a:endParaRPr>
          </a:p>
        </p:txBody>
      </p:sp>
      <p:sp>
        <p:nvSpPr>
          <p:cNvPr id="3" name="Content Placeholder 2">
            <a:extLst>
              <a:ext uri="{FF2B5EF4-FFF2-40B4-BE49-F238E27FC236}">
                <a16:creationId xmlns:a16="http://schemas.microsoft.com/office/drawing/2014/main" id="{1C7BE970-3CA9-E0A2-20CB-03376A742821}"/>
              </a:ext>
            </a:extLst>
          </p:cNvPr>
          <p:cNvSpPr>
            <a:spLocks noGrp="1"/>
          </p:cNvSpPr>
          <p:nvPr>
            <p:ph/>
          </p:nvPr>
        </p:nvSpPr>
        <p:spPr>
          <a:xfrm>
            <a:off x="609480" y="1093827"/>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cs typeface="Segoe UI"/>
              </a:rPr>
              <a:t>A post-WWII nation seeks to prevent poverty.</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Government takes ownership of all private banks.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The state dictates the prices of all goods.</a:t>
            </a:r>
            <a:endParaRPr lang="en-US" sz="2400" dirty="0">
              <a:solidFill>
                <a:srgbClr val="3C4043"/>
              </a:solidFill>
              <a:latin typeface="Segoe UI"/>
              <a:cs typeface="Segoe UI"/>
            </a:endParaRPr>
          </a:p>
          <a:p>
            <a:pPr marL="342900" indent="-342900">
              <a:spcBef>
                <a:spcPts val="0"/>
              </a:spcBef>
              <a:spcAft>
                <a:spcPts val="500"/>
              </a:spcAft>
              <a:buFont typeface="Arial"/>
              <a:buChar char="•"/>
            </a:pPr>
            <a:r>
              <a:rPr lang="en-US" sz="2400">
                <a:solidFill>
                  <a:srgbClr val="3C4043"/>
                </a:solidFill>
                <a:latin typeface="Segoe UI"/>
                <a:cs typeface="Segoe UI"/>
              </a:rPr>
              <a:t>Citizens are directly assigned jobs by the government.</a:t>
            </a:r>
            <a:endParaRPr lang="en-US" sz="2400" dirty="0">
              <a:solidFill>
                <a:srgbClr val="3C4043"/>
              </a:solidFill>
              <a:latin typeface="Segoe UI"/>
              <a:cs typeface="Segoe UI"/>
            </a:endParaRPr>
          </a:p>
        </p:txBody>
      </p:sp>
      <p:sp>
        <p:nvSpPr>
          <p:cNvPr id="5" name="Freeform: Shape 4">
            <a:extLst>
              <a:ext uri="{FF2B5EF4-FFF2-40B4-BE49-F238E27FC236}">
                <a16:creationId xmlns:a16="http://schemas.microsoft.com/office/drawing/2014/main" id="{7067E49B-B479-C1A4-B60A-1E45E7948AB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177D1907-3835-C07C-7C42-D2C301E25A5C}"/>
              </a:ext>
            </a:extLst>
          </p:cNvPr>
          <p:cNvSpPr txBox="1"/>
          <p:nvPr/>
        </p:nvSpPr>
        <p:spPr>
          <a:xfrm>
            <a:off x="3463639" y="6213765"/>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Visualizing a state-controlled economy where the central government manages all resources and infrastructure.</a:t>
            </a:r>
            <a:endParaRPr lang="en-US" sz="1400">
              <a:latin typeface="Segoe UI"/>
              <a:ea typeface="+mn-lt"/>
              <a:cs typeface="Segoe UI"/>
            </a:endParaRPr>
          </a:p>
        </p:txBody>
      </p:sp>
      <p:pic>
        <p:nvPicPr>
          <p:cNvPr id="10" name="Picture 9" descr="image.png"/>
          <p:cNvPicPr>
            <a:picLocks noChangeAspect="1"/>
          </p:cNvPicPr>
          <p:nvPr/>
        </p:nvPicPr>
        <p:blipFill>
          <a:blip r:embed="rId3"/>
          <a:stretch>
            <a:fillRect/>
          </a:stretch>
        </p:blipFill>
        <p:spPr>
          <a:xfrm>
            <a:off x="3095640" y="2786465"/>
            <a:ext cx="6000480" cy="342864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0ABE77DB-0754-BBBF-F7E0-B69D0AC4BC46}"/>
              </a:ext>
            </a:extLst>
          </p:cNvPr>
          <p:cNvSpPr>
            <a:spLocks noGrp="1"/>
          </p:cNvSpPr>
          <p:nvPr>
            <p:ph/>
          </p:nvPr>
        </p:nvSpPr>
        <p:spPr>
          <a:xfrm>
            <a:off x="609480" y="1084063"/>
            <a:ext cx="10972080" cy="3768480"/>
          </a:xfrm>
        </p:spPr>
        <p:txBody>
          <a:bodyPr lIns="0" tIns="0" rIns="0" bIns="0" anchor="t">
            <a:noAutofit/>
          </a:bodyPr>
          <a:lstStyle/>
          <a:p>
            <a:pPr marL="342900" indent="-342900">
              <a:spcBef>
                <a:spcPts val="0"/>
              </a:spcBef>
              <a:spcAft>
                <a:spcPts val="500"/>
              </a:spcAft>
              <a:buFont typeface="Arial"/>
              <a:buChar char="•"/>
            </a:pPr>
            <a:r>
              <a:rPr lang="en-US" sz="2400">
                <a:solidFill>
                  <a:srgbClr val="3C4043"/>
                </a:solidFill>
                <a:latin typeface="Segoe UI"/>
                <a:ea typeface="+mn-lt"/>
                <a:cs typeface="Segoe UI"/>
              </a:rPr>
              <a:t>Option A: Democratic Capitalism (United States)</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Option B: Authoritarian Communism (Soviet Union)</a:t>
            </a:r>
            <a:endParaRPr lang="en-US" sz="2400">
              <a:latin typeface="Segoe UI"/>
              <a:ea typeface="+mn-lt"/>
              <a:cs typeface="Segoe UI"/>
            </a:endParaRPr>
          </a:p>
          <a:p>
            <a:pPr marL="342900" indent="-342900">
              <a:spcBef>
                <a:spcPts val="0"/>
              </a:spcBef>
              <a:spcAft>
                <a:spcPts val="500"/>
              </a:spcAft>
              <a:buFont typeface="Arial"/>
              <a:buChar char="•"/>
            </a:pPr>
            <a:r>
              <a:rPr lang="en-US" sz="2400">
                <a:solidFill>
                  <a:srgbClr val="3C4043"/>
                </a:solidFill>
                <a:latin typeface="Segoe UI"/>
                <a:ea typeface="+mn-lt"/>
                <a:cs typeface="Segoe UI"/>
              </a:rPr>
              <a:t>Consider who controls the means of production and distribution.</a:t>
            </a:r>
            <a:endParaRPr lang="en-US" sz="2400">
              <a:latin typeface="Segoe UI"/>
              <a:ea typeface="+mn-lt"/>
              <a:cs typeface="Segoe UI"/>
            </a:endParaRPr>
          </a:p>
        </p:txBody>
      </p:sp>
      <p:sp>
        <p:nvSpPr>
          <p:cNvPr id="5" name="Title 1">
            <a:extLst>
              <a:ext uri="{FF2B5EF4-FFF2-40B4-BE49-F238E27FC236}">
                <a16:creationId xmlns:a16="http://schemas.microsoft.com/office/drawing/2014/main" id="{C9C2ABFE-6A85-4BCF-8DF3-AFDA569F990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Which Ideology Is It?</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A29DE1DD-6430-84A8-0772-6B8E617F00A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
        <p:nvSpPr>
          <p:cNvPr id="21" name="TextBox 20">
            <a:extLst>
              <a:ext uri="{FF2B5EF4-FFF2-40B4-BE49-F238E27FC236}">
                <a16:creationId xmlns:a16="http://schemas.microsoft.com/office/drawing/2014/main" id="{E51BC84B-4F56-8BA8-1E8C-3AF699544E5B}"/>
              </a:ext>
            </a:extLst>
          </p:cNvPr>
          <p:cNvSpPr txBox="1"/>
          <p:nvPr/>
        </p:nvSpPr>
        <p:spPr>
          <a:xfrm>
            <a:off x="630384" y="5839692"/>
            <a:ext cx="526472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a:solidFill>
                  <a:srgbClr val="5F6368"/>
                </a:solidFill>
                <a:latin typeface="Segoe UI"/>
                <a:ea typeface="+mn-lt"/>
                <a:cs typeface="Segoe UI"/>
              </a:rPr>
              <a:t>Capitalism emphasizes free markets, supply and demand, and private ownership.</a:t>
            </a:r>
            <a:endParaRPr lang="en-US" sz="1400">
              <a:latin typeface="Segoe UI"/>
              <a:ea typeface="+mn-lt"/>
              <a:cs typeface="Segoe UI"/>
            </a:endParaRPr>
          </a:p>
        </p:txBody>
      </p:sp>
      <p:sp>
        <p:nvSpPr>
          <p:cNvPr id="22" name="TextBox 21">
            <a:extLst>
              <a:ext uri="{FF2B5EF4-FFF2-40B4-BE49-F238E27FC236}">
                <a16:creationId xmlns:a16="http://schemas.microsoft.com/office/drawing/2014/main" id="{2D890189-E7B9-F519-5688-3F863F679E10}"/>
              </a:ext>
            </a:extLst>
          </p:cNvPr>
          <p:cNvSpPr txBox="1"/>
          <p:nvPr/>
        </p:nvSpPr>
        <p:spPr>
          <a:xfrm>
            <a:off x="6289965" y="5839690"/>
            <a:ext cx="5250869"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dirty="0">
                <a:solidFill>
                  <a:srgbClr val="5F6368"/>
                </a:solidFill>
                <a:latin typeface="Segoe UI"/>
                <a:ea typeface="+mn-lt"/>
                <a:cs typeface="Segoe UI"/>
              </a:rPr>
              <a:t>Communism relies on strict state control and the collective distribution of goods.</a:t>
            </a:r>
            <a:endParaRPr lang="en-US" sz="1400" dirty="0">
              <a:solidFill>
                <a:srgbClr val="000000"/>
              </a:solidFill>
              <a:latin typeface="Segoe UI"/>
              <a:ea typeface="+mn-lt"/>
              <a:cs typeface="Segoe UI"/>
            </a:endParaRPr>
          </a:p>
          <a:p>
            <a:pPr algn="ctr"/>
            <a:endParaRPr lang="en-US" sz="1400" dirty="0">
              <a:solidFill>
                <a:srgbClr val="5F6368"/>
              </a:solidFill>
              <a:latin typeface="Segoe UI"/>
              <a:ea typeface="+mn-lt"/>
              <a:cs typeface="Segoe UI"/>
            </a:endParaRPr>
          </a:p>
        </p:txBody>
      </p:sp>
      <p:pic>
        <p:nvPicPr>
          <p:cNvPr id="23" name="Picture 22" descr="image.png"/>
          <p:cNvPicPr>
            <a:picLocks noChangeAspect="1"/>
          </p:cNvPicPr>
          <p:nvPr/>
        </p:nvPicPr>
        <p:blipFill>
          <a:blip r:embed="rId4"/>
          <a:stretch>
            <a:fillRect/>
          </a:stretch>
        </p:blipFill>
        <p:spPr>
          <a:xfrm>
            <a:off x="625157" y="2995986"/>
            <a:ext cx="5279936" cy="2672296"/>
          </a:xfrm>
          <a:prstGeom prst="rect">
            <a:avLst/>
          </a:prstGeom>
        </p:spPr>
      </p:pic>
      <p:pic>
        <p:nvPicPr>
          <p:cNvPr id="24" name="Picture 23" descr="image.png"/>
          <p:cNvPicPr>
            <a:picLocks noChangeAspect="1"/>
          </p:cNvPicPr>
          <p:nvPr/>
        </p:nvPicPr>
        <p:blipFill>
          <a:blip r:embed="rId5"/>
          <a:stretch>
            <a:fillRect/>
          </a:stretch>
        </p:blipFill>
        <p:spPr>
          <a:xfrm>
            <a:off x="6286320" y="2993335"/>
            <a:ext cx="5238360" cy="26697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Content Placeholder 2">
            <a:extLst>
              <a:ext uri="{FF2B5EF4-FFF2-40B4-BE49-F238E27FC236}">
                <a16:creationId xmlns:a16="http://schemas.microsoft.com/office/drawing/2014/main" id="{D3028995-2800-C329-DC60-3AE50B85038A}"/>
              </a:ext>
            </a:extLst>
          </p:cNvPr>
          <p:cNvSpPr>
            <a:spLocks noGrp="1"/>
          </p:cNvSpPr>
          <p:nvPr>
            <p:ph/>
          </p:nvPr>
        </p:nvSpPr>
        <p:spPr>
          <a:xfrm>
            <a:off x="609480" y="1084062"/>
            <a:ext cx="10972080" cy="3768480"/>
          </a:xfrm>
        </p:spPr>
        <p:txBody>
          <a:bodyPr lIns="0" tIns="0" rIns="0" bIns="0" anchor="t">
            <a:noAutofit/>
          </a:bodyPr>
          <a:lstStyle/>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Correct Answer: The Soviet Union.</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Defining Trait: Absolute state control over the economy.</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Non-Example: Free-market capitalism (prices fluctuate based on supply and demand).</a:t>
            </a:r>
            <a:endParaRPr lang="en-US" dirty="0">
              <a:solidFill>
                <a:srgbClr val="3C4043"/>
              </a:solidFill>
              <a:latin typeface="Segoe UI"/>
              <a:cs typeface="Segoe UI"/>
            </a:endParaRPr>
          </a:p>
          <a:p>
            <a:pPr marL="342900" indent="-342900">
              <a:lnSpc>
                <a:spcPct val="100000"/>
              </a:lnSpc>
              <a:spcBef>
                <a:spcPts val="0"/>
              </a:spcBef>
              <a:spcAft>
                <a:spcPts val="500"/>
              </a:spcAft>
              <a:buFont typeface="Arial"/>
              <a:buChar char="•"/>
            </a:pPr>
            <a:r>
              <a:rPr lang="en-US" sz="2400">
                <a:solidFill>
                  <a:srgbClr val="3C4043"/>
                </a:solidFill>
                <a:latin typeface="Segoe UI"/>
                <a:cs typeface="Segoe UI"/>
              </a:rPr>
              <a:t>Conclusion: This fundamental incompatibility made post-WWII cooperation impossible.</a:t>
            </a:r>
            <a:endParaRPr lang="en-US" dirty="0">
              <a:solidFill>
                <a:srgbClr val="3C4043"/>
              </a:solidFill>
              <a:latin typeface="Segoe UI"/>
              <a:cs typeface="Segoe UI"/>
            </a:endParaRPr>
          </a:p>
        </p:txBody>
      </p:sp>
      <p:sp>
        <p:nvSpPr>
          <p:cNvPr id="5" name="Title 1">
            <a:extLst>
              <a:ext uri="{FF2B5EF4-FFF2-40B4-BE49-F238E27FC236}">
                <a16:creationId xmlns:a16="http://schemas.microsoft.com/office/drawing/2014/main" id="{18C2CBBF-BF9F-359E-3F38-546B5CA1F63C}"/>
              </a:ext>
            </a:extLst>
          </p:cNvPr>
          <p:cNvSpPr>
            <a:spLocks noGrp="1"/>
          </p:cNvSpPr>
          <p:nvPr>
            <p:ph type="title"/>
          </p:nvPr>
        </p:nvSpPr>
        <p:spPr>
          <a:xfrm>
            <a:off x="609480" y="2891"/>
            <a:ext cx="10972080" cy="1084680"/>
          </a:xfrm>
        </p:spPr>
        <p:txBody>
          <a:bodyPr/>
          <a:lstStyle/>
          <a:p>
            <a:pPr>
              <a:lnSpc>
                <a:spcPct val="100000"/>
              </a:lnSpc>
              <a:spcBef>
                <a:spcPts val="0"/>
              </a:spcBef>
            </a:pPr>
            <a:r>
              <a:rPr lang="en-US" sz="2800" b="1">
                <a:solidFill>
                  <a:srgbClr val="1A73E8"/>
                </a:solidFill>
                <a:latin typeface="Segoe UI"/>
                <a:ea typeface="+mj-lt"/>
                <a:cs typeface="Segoe UI"/>
              </a:rPr>
              <a:t>The Answer: Authoritarian Communism</a:t>
            </a:r>
            <a:endParaRPr lang="en-US" sz="2800">
              <a:solidFill>
                <a:srgbClr val="000000"/>
              </a:solidFill>
              <a:latin typeface="Segoe UI"/>
              <a:ea typeface="+mj-lt"/>
              <a:cs typeface="Segoe UI"/>
            </a:endParaRPr>
          </a:p>
        </p:txBody>
      </p:sp>
      <p:sp>
        <p:nvSpPr>
          <p:cNvPr id="7" name="Freeform: Shape 6">
            <a:extLst>
              <a:ext uri="{FF2B5EF4-FFF2-40B4-BE49-F238E27FC236}">
                <a16:creationId xmlns:a16="http://schemas.microsoft.com/office/drawing/2014/main" id="{EBE50333-46C4-AEFE-C946-586F7A32B2D6}"/>
              </a:ext>
            </a:extLst>
          </p:cNvPr>
          <p:cNvSpPr/>
          <p:nvPr/>
        </p:nvSpPr>
        <p:spPr>
          <a:xfrm>
            <a:off x="611302" y="848411"/>
            <a:ext cx="10858680" cy="19440"/>
          </a:xfrm>
          <a:custGeom>
            <a:avLst/>
            <a:gdLst/>
            <a:ahLst/>
            <a:cxnLst/>
            <a:rect l="0" t="0" r="r" b="b"/>
            <a:pathLst>
              <a:path w="30163" h="54">
                <a:moveTo>
                  <a:pt x="0" y="0"/>
                </a:moveTo>
                <a:lnTo>
                  <a:pt x="30163" y="0"/>
                </a:lnTo>
                <a:lnTo>
                  <a:pt x="30163" y="54"/>
                </a:lnTo>
                <a:lnTo>
                  <a:pt x="0" y="54"/>
                </a:lnTo>
                <a:lnTo>
                  <a:pt x="0" y="0"/>
                </a:lnTo>
                <a:close/>
              </a:path>
            </a:pathLst>
          </a:custGeom>
          <a:solidFill>
            <a:srgbClr val="E8EAED"/>
          </a:solidFill>
          <a:ln w="0">
            <a:noFill/>
          </a:ln>
        </p:spPr>
        <p:txBody>
          <a:bodyPr lIns="0" tIns="0" rIns="0" bIns="0" anchor="t">
            <a:noAutofit/>
          </a:bodyPr>
          <a:lstStyle/>
          <a:p>
            <a:endParaRPr lang="en-US" sz="2400" b="0" strike="noStrike" spc="-1">
              <a:solidFill>
                <a:srgbClr val="000000"/>
              </a:solidFill>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Introduction to Design Thinking</vt:lpstr>
      <vt:lpstr>Introduction to Design Thinking</vt:lpstr>
      <vt:lpstr>Introduction to Design Thinking</vt:lpstr>
      <vt:lpstr>Introduction to Design Thinking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147</cp:revision>
  <dcterms:modified xsi:type="dcterms:W3CDTF">2026-04-12T09:50:30Z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