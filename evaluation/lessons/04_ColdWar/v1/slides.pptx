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18840" y="2590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80880" y="1758240"/>
            <a:ext cx="105620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1.1 Capitalism vs. Communism: Ideological Foundations (Part 1)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095120" y="2943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857160" y="2469600"/>
            <a:ext cx="5674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70" spc="-1" strike="noStrike">
                <a:solidFill>
                  <a:srgbClr val="1f2328"/>
                </a:solidFill>
                <a:latin typeface="NotoSans-Semi"/>
                <a:ea typeface="NotoSans-Semi"/>
              </a:rPr>
              <a:t>Democratic Capitalism: The American Paradigm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333440" y="2822040"/>
            <a:ext cx="9784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United States championed a system rooted in constitutional democracy, prioritizing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095120" y="3714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3" y="24"/>
                  <a:pt x="204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333440" y="3183840"/>
            <a:ext cx="6140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individual civil liberties and representative governance.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333440" y="3593520"/>
            <a:ext cx="103838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Economically, the American framework relied on free-market capitalism, emphasizing private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095120" y="4495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333440" y="3955320"/>
            <a:ext cx="5900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property, competition, and entrepreneurial freedom.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333440" y="4374720"/>
            <a:ext cx="93535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American leadership believed that decentralized decision-making and minimal state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333440" y="4727160"/>
            <a:ext cx="74790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economic control were necessary to prevent totalitarian overreach.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18840" y="2590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80880" y="1758240"/>
            <a:ext cx="105620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1.1 Capitalism vs. Communism: Ideological Foundations (Part 2)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095120" y="2943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57160" y="2469600"/>
            <a:ext cx="5770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70" spc="-1" strike="noStrike">
                <a:solidFill>
                  <a:srgbClr val="1f2328"/>
                </a:solidFill>
                <a:latin typeface="NotoSans-Semi"/>
                <a:ea typeface="NotoSans-Semi"/>
              </a:rPr>
              <a:t>Authoritarian Communism: The Soviet Paradigm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333440" y="2822040"/>
            <a:ext cx="96505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 stark contrast, the Soviet Union operated under a single-party authoritarian regime,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095120" y="3714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3" y="24"/>
                  <a:pt x="204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333440" y="3183840"/>
            <a:ext cx="6338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centralizing absolute power within the Communist Party.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333440" y="3593520"/>
            <a:ext cx="10046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Soviet command economy functioned through strict state ownership of all production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095120" y="4495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333440" y="3955320"/>
            <a:ext cx="63756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means, fundamentally abolishing private property rights.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333440" y="4374720"/>
            <a:ext cx="9310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Marxist-Leninist ideology argued that true collective equality required the complete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333440" y="4727160"/>
            <a:ext cx="6312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elimination of capitalist class structures via state control.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618840" y="2590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80880" y="1758240"/>
            <a:ext cx="105620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1.1 Capitalism vs. Communism: Ideological Foundations (Part 3)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095120" y="2943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57160" y="2469600"/>
            <a:ext cx="46015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70" spc="-1" strike="noStrike">
                <a:solidFill>
                  <a:srgbClr val="1f2328"/>
                </a:solidFill>
                <a:latin typeface="NotoSans-Semi"/>
                <a:ea typeface="NotoSans-Semi"/>
              </a:rPr>
              <a:t>The WWII Baseline Alliance (1941-1945)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333440" y="2822040"/>
            <a:ext cx="9865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During World War II, the United States and the Soviet Union formed a reluctant strategic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095120" y="3714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3" y="24"/>
                  <a:pt x="204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333440" y="3183840"/>
            <a:ext cx="6239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alliance strictly out of necessity to defeat Nazi Germany.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333440" y="3593520"/>
            <a:ext cx="94953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This temporary partnership required both superpowers to momentarily sideline their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095120" y="4495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333440" y="3955320"/>
            <a:ext cx="7297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profound ideological diﬀerences to confront an existential threat.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333440" y="4374720"/>
            <a:ext cx="97362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Despite massive American Lend-Lease aid sustaining the Soviet war eﬀort, deep-seated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333440" y="4727160"/>
            <a:ext cx="68558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mutual suspicion persisted among military intelligence ranks.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18840" y="2590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80880" y="1758240"/>
            <a:ext cx="105620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1.1 Capitalism vs. Communism: Ideological Foundations (Part 4)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095120" y="2943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57160" y="2469600"/>
            <a:ext cx="4630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70" spc="-1" strike="noStrike">
                <a:solidFill>
                  <a:srgbClr val="1f2328"/>
                </a:solidFill>
                <a:latin typeface="NotoSans-Semi"/>
                <a:ea typeface="NotoSans-Semi"/>
              </a:rPr>
              <a:t>The Sudden Ideological Pivot Post-1945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333440" y="2822040"/>
            <a:ext cx="10087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total collapse of the Axis powers in 1945 created a massive geopolitical power vacuum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095120" y="3714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3" y="24"/>
                  <a:pt x="204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333440" y="3183840"/>
            <a:ext cx="6419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across the entirety of the devastated European continent.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333440" y="3593520"/>
            <a:ext cx="9624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irreconcilable nature of their competing ideologies completely negated traditional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095120" y="4495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333440" y="3955320"/>
            <a:ext cx="6858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diplomacy, rapidly dissolving the precarious wartime alliance.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333440" y="4374720"/>
            <a:ext cx="9676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This fundamental ideological rupture made continued post-war cooperation practically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333440" y="4727160"/>
            <a:ext cx="66880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impossible, setting the deﬁnitive stage for the Cold War era.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