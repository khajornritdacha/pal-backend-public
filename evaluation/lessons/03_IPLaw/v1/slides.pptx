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59200"/>
            <a:ext cx="10972080" cy="502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28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872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28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872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80880" y="2850120"/>
            <a:ext cx="6948720" cy="5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0288d1"/>
                </a:solidFill>
                <a:latin typeface="NotoSans-Semi"/>
                <a:ea typeface="NotoSans-Semi"/>
              </a:rPr>
              <a:t>IP Law &amp; The Bundle of Rights Model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380880" y="3631680"/>
            <a:ext cx="92041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An introduction to intellectual property frameworks and legal ownership concepts.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380880" y="1939320"/>
            <a:ext cx="463356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Intangible Asset Ownership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57160" y="2640960"/>
            <a:ext cx="98413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Intellectual property protects creations of the human mind, establishing ownership over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857160" y="3003120"/>
            <a:ext cx="51001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intangible assets rather than physical objects.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57160" y="3422160"/>
            <a:ext cx="107204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Unlike owning a tangible item like a physical book or a machine, IP law grants creators exclusive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857160" y="3774600"/>
            <a:ext cx="41720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control over the underlying concepts.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57160" y="4193640"/>
            <a:ext cx="108698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This foundational legal framework enables creators and businesses to transform innovative ideas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857160" y="4546080"/>
            <a:ext cx="52099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into quantiﬁable, protectable economic assets.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380880" y="1939320"/>
            <a:ext cx="489888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The Bundle of Rights Concept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857160" y="2640960"/>
            <a:ext cx="106747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The bundle of rights mental model visualizes intellectual property not as a single absolute right,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857160" y="3003120"/>
            <a:ext cx="50130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but as a collection of separable legal powers.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857160" y="3422160"/>
            <a:ext cx="106459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Each individual stick in this metaphorical bundle represents a distinct authorization, such as the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857160" y="3774600"/>
            <a:ext cx="45331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right to reproduce, distribute, or display.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857160" y="4193640"/>
            <a:ext cx="109339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Owners possess the unique capability to divide these individual rights, retaining speciﬁc privileges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57160" y="4546080"/>
            <a:ext cx="45680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while transferring others to third parties.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380880" y="1939320"/>
            <a:ext cx="509076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Holding, Licensing, and Selling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857160" y="2640960"/>
            <a:ext cx="102373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IP owners can independently hold their complete bundle of rights, preventing unauthorized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57160" y="3003120"/>
            <a:ext cx="60616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competitors from utilizing their protected innovations.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857160" y="3422160"/>
            <a:ext cx="107359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Licensing allows owners to grant limited permissions to external entities, generating continuous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857160" y="3774600"/>
            <a:ext cx="56289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revenue streams without relinquishing ownership.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857160" y="4193640"/>
            <a:ext cx="108637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Selling or assigning intellectual property completely transfers the entire bundle of rights to a new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857160" y="4546080"/>
            <a:ext cx="49172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owner, permanently shifting legal authority.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380880" y="1939320"/>
            <a:ext cx="437292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Societal Purpose of IP Law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857160" y="2640960"/>
            <a:ext cx="108745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The fundamental societal objective of intellectual property law is to incentivize continuous human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857160" y="3003120"/>
            <a:ext cx="54093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innovation and expansive cultural advancement.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57160" y="3422160"/>
            <a:ext cx="106167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By granting temporary, limited monopolies to creators, the legal system ensures that inventors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57160" y="3774600"/>
            <a:ext cx="57171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can adequately recover their research investments.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857160" y="4193640"/>
            <a:ext cx="105530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This delicate balance ultimately enriches the public domain, as protected works and inventions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857160" y="4546080"/>
            <a:ext cx="56610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are eventually released for unrestricted public use.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5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LibreOffice/7.4.7.2$Linux_AARCH64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