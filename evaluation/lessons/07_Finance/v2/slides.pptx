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ore0.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6" r:id="rId12"/>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40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0AC4E2-4DCE-0483-2C48-4B4E7FBF87EC}" v="391" dt="2026-04-12T09:50:21.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5/10/relationships/revisionInfo" Target="revisionInfo.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Imagine going to a doctor; they don't just guess how you feel, they look at your medical chart to see your vitals. In the business world, financial statements serve the exact same purpose. They are the essential health check for any company, allowing managers, investors, and lenders to clearly see how the business is truly performing.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day, a business engages in hundreds of activities like selling goods, paying staff, and buying equipment. If you just looked at a giant pile of receipts, it would be impossible to understand what's happening. Financial statements translate all of that chaotic daily activity into a standardized, universal language of numbers. This translation is what empowers leaders to make smart, data-driven decisions rather than guessing.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get a complete picture of a company's health, we rely on three core statements working together. The Income Statement shows us if the company is actually making a profit over a specific period. The Balance Sheet acts as a snapshot, showing what the company owns and owes at a single exact moment. Finally, the Cash Flow Statement strips away the accounting rules to show us exactly how real cash is moving in and out of the business.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first look at the core financial statements. Just like a doctor uses a medical chart to evaluate a patient's health, investors and managers use financial statements to check a company's vitality. They are standardized reports that translate complex, everyday business activities into a universal language of numbers. Without them, we would just be guessing at how well a company is truly performing.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primary tools in our financial toolkit. First is the Income Statement, which measures how profitable a company is over a specific period, like a quarter or a year. Second is the Balance Sheet, which gives us a snapshot of exactly what the business owns and owes at a single moment in time. Finally, the Cash Flow Statement strips away the accounting rules to show us the actual cash flowing in and out of the business, because accounting profit does not always equal cash on hand.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critical to understand the timeframes these statements cover to interpret them correctly. The Balance Sheet is exactly like taking a photograph; it freezes the company at one specific date, showing its exact financial position on that singular day. Conversely, the Income Statement and Cash Flow Statement act like video recordings. They capture what happened continuously over a whole month, quarter, or year, showing the motion and flow of business activities.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this section. Before we dive into what financial statements are, it's crucial to understand what they are not. In the business world, there is a lot of noise, from marketing campaigns to brand popularity metrics. Financial statements cut through this noise to provide a standardized, objective view of financial reality.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three clear non-examples to build our mental model. First, a CEO's motivational newsletter or marketing brochure is highly subjective and designed to persuade. Second, a daily diary of what employees are doing is operational, not financial. Finally, having millions of social media followers might be great for the brand, but it doesn't automatically translate to standardized financial health.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distinction here is between subjective business information and objective financial reality. Marketing materials and PR campaigns can paint a rosy picture based on opinions or future hopes. In contrast, financial statements are grounded in strict, standardized accounting rules that require verifiable numbers. This is why investors rely on statements, not just newsletters.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when we read an income statement or a balance sheet, we must remember its exact purpose. It is not there to tell us if customers love the brand, or if employees are happy. It strictly documents standardized financial events. Keeping this boundary in mind ensures you don't look to financial statements for answers they were never designed to provide.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the concept of business translation to the test with a real-world scenario. Imagine your company just had a very busy day: you bought a brand new delivery truck, sold one thousand units of your main product, and secured a new bank loan. In the real world, these are physical actions and interactions. But in finance, we must translate these exact events into our standardized financial language to see how they impact the business.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evaluate our business health, we must sort these three activities into our three core statements. The sale of the one thousand units is a performance metric, so it translates into revenue on the Income Statement. The actual cash coming in from the bank and leaving to pay for the truck is tracked on the Cash Flow Statement. Finally, the new truck we now own and the bank debt we now owe must be recorded as well.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focus specifically on the new delivery truck and the bank loan. Think back to the 'medical chart' analogy we used earlier to describe financial statements. If a doctor wants a snapshot of your current physical condition at this exact moment, they look at your current vitals. In our business scenario, which of the three financial statements provides this exact 'snapshot' of the truck we just bought and the loan we just secured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correct answer is the Balance Sheet. Just like a medical chart shows your weight and blood pressure at a specific moment, the balance sheet takes a snapshot of the company's financial position today. It translates the delivery truck into an 'Asset' because it is something of value the business now owns. Simultaneously, it translates the bank loan into a 'Liability' because it is an obligation the business now owes.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 name="PlaceHolder 2"/>
          <p:cNvSpPr>
            <a:spLocks noGrp="1"/>
          </p:cNvSpPr>
          <p:nvPr>
            <p:ph/>
          </p:nvPr>
        </p:nvSpPr>
        <p:spPr>
          <a:xfrm>
            <a:off x="609480" y="1520280"/>
            <a:ext cx="109720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59200"/>
            <a:ext cx="10972080" cy="502920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3"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4"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6"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7"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8" name="PlaceHolder 4"/>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0"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1"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2" name="PlaceHolder 4"/>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4" name="PlaceHolder 2"/>
          <p:cNvSpPr>
            <a:spLocks noGrp="1"/>
          </p:cNvSpPr>
          <p:nvPr>
            <p:ph/>
          </p:nvPr>
        </p:nvSpPr>
        <p:spPr>
          <a:xfrm>
            <a:off x="609480" y="152028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5" name="PlaceHolder 3"/>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7"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8"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9"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0" name="PlaceHolder 5"/>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 name="PlaceHolder 2"/>
          <p:cNvSpPr>
            <a:spLocks noGrp="1"/>
          </p:cNvSpPr>
          <p:nvPr>
            <p:ph/>
          </p:nvPr>
        </p:nvSpPr>
        <p:spPr>
          <a:xfrm>
            <a:off x="6094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3" name="PlaceHolder 3"/>
          <p:cNvSpPr>
            <a:spLocks noGrp="1"/>
          </p:cNvSpPr>
          <p:nvPr>
            <p:ph/>
          </p:nvPr>
        </p:nvSpPr>
        <p:spPr>
          <a:xfrm>
            <a:off x="43192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4" name="PlaceHolder 4"/>
          <p:cNvSpPr>
            <a:spLocks noGrp="1"/>
          </p:cNvSpPr>
          <p:nvPr>
            <p:ph/>
          </p:nvPr>
        </p:nvSpPr>
        <p:spPr>
          <a:xfrm>
            <a:off x="802872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5" name="PlaceHolder 5"/>
          <p:cNvSpPr>
            <a:spLocks noGrp="1"/>
          </p:cNvSpPr>
          <p:nvPr>
            <p:ph/>
          </p:nvPr>
        </p:nvSpPr>
        <p:spPr>
          <a:xfrm>
            <a:off x="6094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6" name="PlaceHolder 6"/>
          <p:cNvSpPr>
            <a:spLocks noGrp="1"/>
          </p:cNvSpPr>
          <p:nvPr>
            <p:ph/>
          </p:nvPr>
        </p:nvSpPr>
        <p:spPr>
          <a:xfrm>
            <a:off x="43192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7" name="PlaceHolder 7"/>
          <p:cNvSpPr>
            <a:spLocks noGrp="1"/>
          </p:cNvSpPr>
          <p:nvPr>
            <p:ph/>
          </p:nvPr>
        </p:nvSpPr>
        <p:spPr>
          <a:xfrm>
            <a:off x="802872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6.png"/><Relationship Id="rId4" Type="http://schemas.openxmlformats.org/officeDocument/2006/relationships/notesSlide" Target="../notesSlides/notesSlide14.xml"/></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Doctors use charts to check physical health.</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Investors use statements to check business health.</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Standardizes complex information for easy reading.</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"Medical Chart" of a Business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Doctors rely on medical charts to evaluate a patient's physical health.</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Decision-makers rely on financial statements to evaluate a company's financial health.</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Translating Business Activities</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Daily operations are chaotic and diverse.</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Statements convert actions into a universal language.</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Enables objective, data-driven decisions.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Not just a random pile of daily receipts.</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Financial statements act as a translator, turning everyday business chaos into structured, readable data.</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Income Statement: Measures profitability.</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Balance Sheet: Snapshots financial position.</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Cash Flow Statement: Tracks real money movement.</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Three Core Financial Statements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Income Statement: Tracks performance over a period of time.</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Balance Sheet: A snapshot of current financial standing.</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Cash Flow Statement: Tracks actual cash movement.</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Evaluating Business Health</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Businesses require standard health checks.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Financial statements act as a medical chart.</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Daily activities are translated into standardized numbers.</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Financial statements act as a comprehensive medical chart for a business.</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Income Statement: Tracks profitability over a period.</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Balance Sheet: Snapshot of what is owned and owed.</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Cash Flow Statement: Monitors actual cash movement.</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Three Core Statements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Income Statement: Tracks profitability over time.</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Balance Sheet: A snapshot of current financial position.</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Cash Flow Statement: Monitors real cash moving in and out.</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Balance Sheet = A static point in time (Snapshot).</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Income &amp; Cash Flow = A period of time (Video recording).</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A snapshot alone cannot show the full operational story.</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Understanding the Timeframe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Balance Sheet: A static snapshot frozen at a specific date.</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Income &amp; Cash Flow: A video capturing motion over a period.</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What Financial Statements Are NOT</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Not all business information is financial data.</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Separate subjective claims from financial reality.</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Focus strictly on standardized monetary metrics.</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Distinguishing between marketing hype and standardized financial data.</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Subjective marketing materials.</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Daily diaries of employee tasks.</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Brand popularity and social media metrics.</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Common Non-Examples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Marketing materials focus on persuasion, not financial health.</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Daily task logs do not show company-wide financial performance.</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Social media popularity does not equal financial profitability.</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Subjective: Opinions, predictions, and PR campaigns.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Objective: Hard numbers and verifiable reporting.</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Financial statements rely on strict accounting rules.</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Subjective Hype vs. Standardized Reality</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Subjective claims and PR campaigns.</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Objective, standardized financial reporting.</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They are not a measure of overall brand sentiment.</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They do not track day-to-day employee operations.</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They strictly document standardized financial events.</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Purpose: Objective evaluation, not marketing.</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Bottom Line on Financial Statements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Business Translation: Real-World Scenario</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Action 1: Buy a new delivery truck</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Action 2: Sell 1,000 units of product</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Action 3: Secure a bank loan</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Challenge: Translate actions to financial data</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Everyday business activities ready to be translated into a standardized financial language.</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Income Statement: Records units sold</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Cash Flow: Tracks money moving in and out</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Balance Sheet: Captures new truck and debt</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Translating Actions to Statements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Income Statement tracks the sales performance.</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Cash Flow Statement tracks the money movement.</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Balance Sheet tracks what the business owns and owes.</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Recall the 'medical chart' analogy</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Which statement acts as a snapshot of today?</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Where do the new truck and loan belong?</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Focus on what is owned vs. what is owed</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Knowledge Check: The "Snapshot"</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Answer: The Balance Sheet</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The Balance Sheet is the financial snapshot</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Truck = New Asset (What we own)</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Bank Loan = New Liability (What we owe)</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Shows exact position at a specific time</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The Balance Sheet translates the truck into an asset and the loan into a liability.</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Widescreen</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Introduction to Design Thinking</vt:lpstr>
      <vt:lpstr>Introduction to Design Thinking</vt:lpstr>
      <vt:lpstr>Introduction to Design Thinking</vt:lpstr>
      <vt:lpstr>Introduction to Design Thinking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147</cp:revision>
  <dcterms:modified xsi:type="dcterms:W3CDTF">2026-04-12T09:50:30Z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