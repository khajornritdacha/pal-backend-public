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520280"/>
            <a:ext cx="53542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520280"/>
            <a:ext cx="53542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59200"/>
            <a:ext cx="10972080" cy="502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52028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520280"/>
            <a:ext cx="53542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48876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520280"/>
            <a:ext cx="53542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52028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48876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52028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52028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488760"/>
            <a:ext cx="109720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520280"/>
            <a:ext cx="109720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488760"/>
            <a:ext cx="109720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52028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52028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48876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48876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520280"/>
            <a:ext cx="35326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280" y="1520280"/>
            <a:ext cx="35326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8720" y="1520280"/>
            <a:ext cx="35326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488760"/>
            <a:ext cx="35326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280" y="3488760"/>
            <a:ext cx="35326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8720" y="3488760"/>
            <a:ext cx="35326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380880" y="3107520"/>
            <a:ext cx="10039320" cy="5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000" spc="-1" strike="noStrike">
                <a:solidFill>
                  <a:srgbClr val="0288d1"/>
                </a:solidFill>
                <a:latin typeface="NotoSans-Semi"/>
                <a:ea typeface="NotoSans-Semi"/>
              </a:rPr>
              <a:t>Financial Statements: Translating Business Activities</a:t>
            </a:r>
            <a:endParaRPr b="0" lang="en-US" sz="3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11775600" y="6327720"/>
            <a:ext cx="228240" cy="31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00" spc="-1" strike="noStrike">
                <a:solidFill>
                  <a:srgbClr val="777777"/>
                </a:solidFill>
                <a:latin typeface="NotoSans"/>
                <a:ea typeface="NotoSans"/>
              </a:rPr>
              <a:t>1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618840" y="2761920"/>
            <a:ext cx="86040" cy="86400"/>
          </a:xfrm>
          <a:custGeom>
            <a:avLst/>
            <a:gdLst/>
            <a:ahLst/>
            <a:rect l="0" t="0" r="r" b="b"/>
            <a:pathLst>
              <a:path w="239" h="240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1"/>
                  <a:pt x="216" y="194"/>
                  <a:pt x="205" y="205"/>
                </a:cubicBezTo>
                <a:cubicBezTo>
                  <a:pt x="193" y="216"/>
                  <a:pt x="181" y="224"/>
                  <a:pt x="166" y="230"/>
                </a:cubicBezTo>
                <a:cubicBezTo>
                  <a:pt x="151" y="237"/>
                  <a:pt x="136" y="240"/>
                  <a:pt x="120" y="240"/>
                </a:cubicBezTo>
                <a:cubicBezTo>
                  <a:pt x="105" y="240"/>
                  <a:pt x="89" y="237"/>
                  <a:pt x="75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4"/>
                  <a:pt x="15" y="181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5"/>
                  <a:pt x="3" y="90"/>
                  <a:pt x="9" y="75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6"/>
                  <a:pt x="75" y="9"/>
                </a:cubicBezTo>
                <a:cubicBezTo>
                  <a:pt x="89" y="3"/>
                  <a:pt x="105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6"/>
                  <a:pt x="193" y="24"/>
                  <a:pt x="205" y="35"/>
                </a:cubicBezTo>
                <a:cubicBezTo>
                  <a:pt x="216" y="46"/>
                  <a:pt x="224" y="59"/>
                  <a:pt x="230" y="75"/>
                </a:cubicBezTo>
                <a:cubicBezTo>
                  <a:pt x="236" y="90"/>
                  <a:pt x="239" y="105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380880" y="1939320"/>
            <a:ext cx="6028200" cy="4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620" spc="-1" strike="noStrike">
                <a:solidFill>
                  <a:srgbClr val="333333"/>
                </a:solidFill>
                <a:latin typeface="NotoSans-Semi"/>
                <a:ea typeface="NotoSans-Semi"/>
              </a:rPr>
              <a:t>The Concept of Business Translation</a:t>
            </a:r>
            <a:endParaRPr b="0" lang="en-US" sz="26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857160" y="2640960"/>
            <a:ext cx="969192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Every single day, complex commercial operations involve countless moving parts, from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>
            <a:off x="618840" y="354312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6" y="193"/>
                  <a:pt x="205" y="204"/>
                </a:cubicBezTo>
                <a:cubicBezTo>
                  <a:pt x="193" y="215"/>
                  <a:pt x="181" y="224"/>
                  <a:pt x="166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5" y="239"/>
                  <a:pt x="89" y="236"/>
                  <a:pt x="75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5"/>
                  <a:pt x="75" y="9"/>
                </a:cubicBezTo>
                <a:cubicBezTo>
                  <a:pt x="89" y="3"/>
                  <a:pt x="105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5"/>
                  <a:pt x="193" y="24"/>
                  <a:pt x="205" y="36"/>
                </a:cubicBezTo>
                <a:cubicBezTo>
                  <a:pt x="216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857160" y="3003120"/>
            <a:ext cx="626436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purchasing raw materials to compensating skilled labor.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857160" y="3422160"/>
            <a:ext cx="1005624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Without a systematic tracking mechanism, evaluating the cumulative impact of these daily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618840" y="43146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6" y="193"/>
                  <a:pt x="205" y="204"/>
                </a:cubicBezTo>
                <a:cubicBezTo>
                  <a:pt x="193" y="216"/>
                  <a:pt x="181" y="224"/>
                  <a:pt x="166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5" y="239"/>
                  <a:pt x="89" y="236"/>
                  <a:pt x="75" y="230"/>
                </a:cubicBezTo>
                <a:cubicBezTo>
                  <a:pt x="59" y="224"/>
                  <a:pt x="46" y="216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5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5"/>
                  <a:pt x="75" y="9"/>
                </a:cubicBezTo>
                <a:cubicBezTo>
                  <a:pt x="89" y="3"/>
                  <a:pt x="105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5"/>
                  <a:pt x="193" y="24"/>
                  <a:pt x="205" y="36"/>
                </a:cubicBezTo>
                <a:cubicBezTo>
                  <a:pt x="216" y="47"/>
                  <a:pt x="224" y="60"/>
                  <a:pt x="230" y="75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857160" y="3774600"/>
            <a:ext cx="611820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transactional events becomes an impossible endeavor.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857160" y="4193640"/>
            <a:ext cx="1003032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Financial statements serve as the ultimate translator, capturing chaotic daily activities and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857160" y="4546080"/>
            <a:ext cx="524016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converting them into structured business data.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11775600" y="6327720"/>
            <a:ext cx="228240" cy="31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00" spc="-1" strike="noStrike">
                <a:solidFill>
                  <a:srgbClr val="777777"/>
                </a:solidFill>
                <a:latin typeface="NotoSans"/>
                <a:ea typeface="NotoSans"/>
              </a:rPr>
              <a:t>2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618840" y="2761920"/>
            <a:ext cx="86040" cy="86400"/>
          </a:xfrm>
          <a:custGeom>
            <a:avLst/>
            <a:gdLst/>
            <a:ahLst/>
            <a:rect l="0" t="0" r="r" b="b"/>
            <a:pathLst>
              <a:path w="239" h="240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1"/>
                  <a:pt x="216" y="194"/>
                  <a:pt x="205" y="205"/>
                </a:cubicBezTo>
                <a:cubicBezTo>
                  <a:pt x="193" y="216"/>
                  <a:pt x="181" y="224"/>
                  <a:pt x="166" y="230"/>
                </a:cubicBezTo>
                <a:cubicBezTo>
                  <a:pt x="151" y="237"/>
                  <a:pt x="136" y="240"/>
                  <a:pt x="120" y="240"/>
                </a:cubicBezTo>
                <a:cubicBezTo>
                  <a:pt x="105" y="240"/>
                  <a:pt x="89" y="237"/>
                  <a:pt x="75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4"/>
                  <a:pt x="15" y="181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5"/>
                  <a:pt x="3" y="90"/>
                  <a:pt x="9" y="75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6"/>
                  <a:pt x="75" y="9"/>
                </a:cubicBezTo>
                <a:cubicBezTo>
                  <a:pt x="89" y="3"/>
                  <a:pt x="105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6"/>
                  <a:pt x="193" y="24"/>
                  <a:pt x="205" y="35"/>
                </a:cubicBezTo>
                <a:cubicBezTo>
                  <a:pt x="216" y="46"/>
                  <a:pt x="224" y="59"/>
                  <a:pt x="230" y="75"/>
                </a:cubicBezTo>
                <a:cubicBezTo>
                  <a:pt x="236" y="90"/>
                  <a:pt x="239" y="105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380880" y="1939320"/>
            <a:ext cx="6680520" cy="4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620" spc="-1" strike="noStrike">
                <a:solidFill>
                  <a:srgbClr val="333333"/>
                </a:solidFill>
                <a:latin typeface="NotoSans-Semi"/>
                <a:ea typeface="NotoSans-Semi"/>
              </a:rPr>
              <a:t>Standardizing the Language of Business</a:t>
            </a:r>
            <a:endParaRPr b="0" lang="en-US" sz="26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857160" y="2640960"/>
            <a:ext cx="1085004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To communicate eﬀectively with stakeholders, organizations must adopt a universally recognized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>
            <a:off x="618840" y="354312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6" y="193"/>
                  <a:pt x="205" y="204"/>
                </a:cubicBezTo>
                <a:cubicBezTo>
                  <a:pt x="193" y="215"/>
                  <a:pt x="181" y="224"/>
                  <a:pt x="166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5" y="239"/>
                  <a:pt x="89" y="236"/>
                  <a:pt x="75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5"/>
                  <a:pt x="75" y="9"/>
                </a:cubicBezTo>
                <a:cubicBezTo>
                  <a:pt x="89" y="3"/>
                  <a:pt x="105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5"/>
                  <a:pt x="193" y="24"/>
                  <a:pt x="205" y="36"/>
                </a:cubicBezTo>
                <a:cubicBezTo>
                  <a:pt x="216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857160" y="3003120"/>
            <a:ext cx="519912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framework that removes subjective ambiguity.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857160" y="3422160"/>
            <a:ext cx="959724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This standardized language allows external investors and internal managers to assess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618840" y="43146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6" y="193"/>
                  <a:pt x="205" y="204"/>
                </a:cubicBezTo>
                <a:cubicBezTo>
                  <a:pt x="193" y="216"/>
                  <a:pt x="181" y="224"/>
                  <a:pt x="166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5" y="239"/>
                  <a:pt x="89" y="236"/>
                  <a:pt x="75" y="230"/>
                </a:cubicBezTo>
                <a:cubicBezTo>
                  <a:pt x="59" y="224"/>
                  <a:pt x="46" y="216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5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5"/>
                  <a:pt x="75" y="9"/>
                </a:cubicBezTo>
                <a:cubicBezTo>
                  <a:pt x="89" y="3"/>
                  <a:pt x="105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5"/>
                  <a:pt x="193" y="24"/>
                  <a:pt x="205" y="36"/>
                </a:cubicBezTo>
                <a:cubicBezTo>
                  <a:pt x="216" y="47"/>
                  <a:pt x="224" y="60"/>
                  <a:pt x="230" y="75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857160" y="3774600"/>
            <a:ext cx="622944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organizational performance using identical parameters.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857160" y="4193640"/>
            <a:ext cx="1061856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By categorizing diverse operational events into predeﬁned ﬁnancial buckets, companies enable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857160" y="4546080"/>
            <a:ext cx="504828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accurate historical and cross-industry checks.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11775600" y="6327720"/>
            <a:ext cx="228240" cy="31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00" spc="-1" strike="noStrike">
                <a:solidFill>
                  <a:srgbClr val="777777"/>
                </a:solidFill>
                <a:latin typeface="NotoSans"/>
                <a:ea typeface="NotoSans"/>
              </a:rPr>
              <a:t>3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618840" y="2761920"/>
            <a:ext cx="86040" cy="86400"/>
          </a:xfrm>
          <a:custGeom>
            <a:avLst/>
            <a:gdLst/>
            <a:ahLst/>
            <a:rect l="0" t="0" r="r" b="b"/>
            <a:pathLst>
              <a:path w="239" h="240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1"/>
                  <a:pt x="216" y="194"/>
                  <a:pt x="205" y="205"/>
                </a:cubicBezTo>
                <a:cubicBezTo>
                  <a:pt x="193" y="216"/>
                  <a:pt x="181" y="224"/>
                  <a:pt x="166" y="230"/>
                </a:cubicBezTo>
                <a:cubicBezTo>
                  <a:pt x="151" y="237"/>
                  <a:pt x="136" y="240"/>
                  <a:pt x="120" y="240"/>
                </a:cubicBezTo>
                <a:cubicBezTo>
                  <a:pt x="105" y="240"/>
                  <a:pt x="89" y="237"/>
                  <a:pt x="75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4"/>
                  <a:pt x="15" y="181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5"/>
                  <a:pt x="3" y="90"/>
                  <a:pt x="9" y="75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6"/>
                  <a:pt x="75" y="9"/>
                </a:cubicBezTo>
                <a:cubicBezTo>
                  <a:pt x="89" y="3"/>
                  <a:pt x="105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6"/>
                  <a:pt x="193" y="24"/>
                  <a:pt x="205" y="35"/>
                </a:cubicBezTo>
                <a:cubicBezTo>
                  <a:pt x="216" y="46"/>
                  <a:pt x="224" y="59"/>
                  <a:pt x="230" y="75"/>
                </a:cubicBezTo>
                <a:cubicBezTo>
                  <a:pt x="236" y="90"/>
                  <a:pt x="239" y="105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380880" y="1939320"/>
            <a:ext cx="6716880" cy="4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620" spc="-1" strike="noStrike">
                <a:solidFill>
                  <a:srgbClr val="333333"/>
                </a:solidFill>
                <a:latin typeface="NotoSans-Semi"/>
                <a:ea typeface="NotoSans-Semi"/>
              </a:rPr>
              <a:t>Evaluating Health and Making Decisions</a:t>
            </a:r>
            <a:endParaRPr b="0" lang="en-US" sz="26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857160" y="2640960"/>
            <a:ext cx="1012464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Raw transactional data is inherently meaningless until it is synthesized into comprehensive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" name=""/>
          <p:cNvSpPr/>
          <p:nvPr/>
        </p:nvSpPr>
        <p:spPr>
          <a:xfrm>
            <a:off x="618840" y="354312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6" y="193"/>
                  <a:pt x="205" y="204"/>
                </a:cubicBezTo>
                <a:cubicBezTo>
                  <a:pt x="193" y="215"/>
                  <a:pt x="181" y="224"/>
                  <a:pt x="166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5" y="239"/>
                  <a:pt x="89" y="236"/>
                  <a:pt x="75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5"/>
                  <a:pt x="75" y="9"/>
                </a:cubicBezTo>
                <a:cubicBezTo>
                  <a:pt x="89" y="3"/>
                  <a:pt x="105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5"/>
                  <a:pt x="193" y="24"/>
                  <a:pt x="205" y="36"/>
                </a:cubicBezTo>
                <a:cubicBezTo>
                  <a:pt x="216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857160" y="3003120"/>
            <a:ext cx="520668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reports that highlight overall economic vitality.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857160" y="3422160"/>
            <a:ext cx="1082880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Executive leadership relies entirely on these synthesized documents to allocate resources, secure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"/>
          <p:cNvSpPr/>
          <p:nvPr/>
        </p:nvSpPr>
        <p:spPr>
          <a:xfrm>
            <a:off x="618840" y="43146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6" y="193"/>
                  <a:pt x="205" y="204"/>
                </a:cubicBezTo>
                <a:cubicBezTo>
                  <a:pt x="193" y="216"/>
                  <a:pt x="181" y="224"/>
                  <a:pt x="166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5" y="239"/>
                  <a:pt x="89" y="236"/>
                  <a:pt x="75" y="230"/>
                </a:cubicBezTo>
                <a:cubicBezTo>
                  <a:pt x="59" y="224"/>
                  <a:pt x="46" y="216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5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5"/>
                  <a:pt x="75" y="9"/>
                </a:cubicBezTo>
                <a:cubicBezTo>
                  <a:pt x="89" y="3"/>
                  <a:pt x="105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5"/>
                  <a:pt x="193" y="24"/>
                  <a:pt x="205" y="36"/>
                </a:cubicBezTo>
                <a:cubicBezTo>
                  <a:pt x="216" y="47"/>
                  <a:pt x="224" y="60"/>
                  <a:pt x="230" y="75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857160" y="3774600"/>
            <a:ext cx="488052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funding, and navigate strategic expansions.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857160" y="4193640"/>
            <a:ext cx="1067940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A healthy business proﬁle provides the necessary conﬁdence for commercial lenders and equity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857160" y="4546080"/>
            <a:ext cx="484416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investors to commit their capital long-term.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11775600" y="6327720"/>
            <a:ext cx="228240" cy="31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00" spc="-1" strike="noStrike">
                <a:solidFill>
                  <a:srgbClr val="777777"/>
                </a:solidFill>
                <a:latin typeface="NotoSans"/>
                <a:ea typeface="NotoSans"/>
              </a:rPr>
              <a:t>4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618840" y="2761920"/>
            <a:ext cx="86040" cy="86400"/>
          </a:xfrm>
          <a:custGeom>
            <a:avLst/>
            <a:gdLst/>
            <a:ahLst/>
            <a:rect l="0" t="0" r="r" b="b"/>
            <a:pathLst>
              <a:path w="239" h="240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1"/>
                  <a:pt x="216" y="194"/>
                  <a:pt x="205" y="205"/>
                </a:cubicBezTo>
                <a:cubicBezTo>
                  <a:pt x="193" y="216"/>
                  <a:pt x="181" y="224"/>
                  <a:pt x="166" y="230"/>
                </a:cubicBezTo>
                <a:cubicBezTo>
                  <a:pt x="151" y="237"/>
                  <a:pt x="136" y="240"/>
                  <a:pt x="120" y="240"/>
                </a:cubicBezTo>
                <a:cubicBezTo>
                  <a:pt x="105" y="240"/>
                  <a:pt x="89" y="237"/>
                  <a:pt x="75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4"/>
                  <a:pt x="15" y="181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5"/>
                  <a:pt x="3" y="90"/>
                  <a:pt x="9" y="75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6"/>
                  <a:pt x="75" y="9"/>
                </a:cubicBezTo>
                <a:cubicBezTo>
                  <a:pt x="89" y="3"/>
                  <a:pt x="105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6"/>
                  <a:pt x="193" y="24"/>
                  <a:pt x="205" y="35"/>
                </a:cubicBezTo>
                <a:cubicBezTo>
                  <a:pt x="216" y="46"/>
                  <a:pt x="224" y="59"/>
                  <a:pt x="230" y="75"/>
                </a:cubicBezTo>
                <a:cubicBezTo>
                  <a:pt x="236" y="90"/>
                  <a:pt x="239" y="105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380880" y="1939320"/>
            <a:ext cx="6112080" cy="4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620" spc="-1" strike="noStrike">
                <a:solidFill>
                  <a:srgbClr val="333333"/>
                </a:solidFill>
                <a:latin typeface="NotoSans-Semi"/>
                <a:ea typeface="NotoSans-Semi"/>
              </a:rPr>
              <a:t>The Three Core Financial Statements</a:t>
            </a:r>
            <a:endParaRPr b="0" lang="en-US" sz="26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857160" y="2640960"/>
            <a:ext cx="1089576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The Income Statement acts as a dynamic video recording, capturing the total revenues generated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618840" y="354312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6" y="193"/>
                  <a:pt x="205" y="204"/>
                </a:cubicBezTo>
                <a:cubicBezTo>
                  <a:pt x="193" y="215"/>
                  <a:pt x="181" y="224"/>
                  <a:pt x="166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5" y="239"/>
                  <a:pt x="89" y="236"/>
                  <a:pt x="75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5"/>
                  <a:pt x="75" y="9"/>
                </a:cubicBezTo>
                <a:cubicBezTo>
                  <a:pt x="89" y="3"/>
                  <a:pt x="105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5"/>
                  <a:pt x="193" y="24"/>
                  <a:pt x="205" y="36"/>
                </a:cubicBezTo>
                <a:cubicBezTo>
                  <a:pt x="216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857160" y="3003120"/>
            <a:ext cx="504504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and expenses incurred over a speciﬁc period.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857160" y="3422160"/>
            <a:ext cx="979848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The Balance Sheet functions as a static photograph, revealing the precise equilibrium of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" name=""/>
          <p:cNvSpPr/>
          <p:nvPr/>
        </p:nvSpPr>
        <p:spPr>
          <a:xfrm>
            <a:off x="618840" y="43146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6" y="193"/>
                  <a:pt x="205" y="204"/>
                </a:cubicBezTo>
                <a:cubicBezTo>
                  <a:pt x="193" y="216"/>
                  <a:pt x="181" y="224"/>
                  <a:pt x="166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5" y="239"/>
                  <a:pt x="89" y="236"/>
                  <a:pt x="75" y="230"/>
                </a:cubicBezTo>
                <a:cubicBezTo>
                  <a:pt x="59" y="224"/>
                  <a:pt x="46" y="216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5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5"/>
                  <a:pt x="75" y="9"/>
                </a:cubicBezTo>
                <a:cubicBezTo>
                  <a:pt x="89" y="3"/>
                  <a:pt x="105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5"/>
                  <a:pt x="193" y="24"/>
                  <a:pt x="205" y="36"/>
                </a:cubicBezTo>
                <a:cubicBezTo>
                  <a:pt x="216" y="47"/>
                  <a:pt x="224" y="60"/>
                  <a:pt x="230" y="75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857160" y="3774600"/>
            <a:ext cx="574452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organizational assets and liabilities at one moment.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857160" y="4193640"/>
            <a:ext cx="1000728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The Cash Flow Statement meticulously tracks actual monetary movements, distinguishing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857160" y="4546080"/>
            <a:ext cx="605556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between theoretical proﬁt and tangible cash available.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11775600" y="6327720"/>
            <a:ext cx="228240" cy="31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00" spc="-1" strike="noStrike">
                <a:solidFill>
                  <a:srgbClr val="777777"/>
                </a:solidFill>
                <a:latin typeface="NotoSans"/>
                <a:ea typeface="NotoSans"/>
              </a:rPr>
              <a:t>5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LibreOffice/7.4.7.2$Linux_AARCH64 LibreOffice_project/40$Build-2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